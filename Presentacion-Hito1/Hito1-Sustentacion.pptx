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Avance planificado (%)</c:v>
                </c:pt>
              </c:strCache>
            </c:strRef>
          </c:tx>
          <c:spPr>
            <a:solidFill>
              <a:srgbClr val="E07A1F"/>
            </a:solidFill>
            <a:effectLst/>
          </c:spPr>
          <c:invertIfNegative val="0"/>
          <c:dLbls>
            <c:numFmt formatCode="#,##0.##" sourceLinked="0"/>
            <c:txPr>
              <a:bodyPr/>
              <a:lstStyle/>
              <a:p>
                <a:pPr>
                  <a:defRPr b="0" i="0" strike="noStrike" sz="1400" u="none">
                    <a:solidFill>
                      <a:srgbClr val="1B2430"/>
                    </a:solidFill>
                    <a:latin typeface="Calibri"/>
                  </a:defRPr>
                </a:pPr>
              </a:p>
            </c:txPr>
            <c:showLegendKey val="0"/>
            <c:showVal val="1"/>
            <c:showCatName val="0"/>
            <c:showSerName val="0"/>
            <c:showPercent val="0"/>
            <c:showBubbleSize val="0"/>
            <c:showLeaderLines val="0"/>
          </c:dLbls>
          <c:dPt>
            <c:idx val="0"/>
            <c:invertIfNegative val="0"/>
            <c:bubble3D val="0"/>
            <c:spPr>
              <a:solidFill>
                <a:srgbClr val="E07A1F"/>
              </a:solidFill>
              <a:effectLst/>
            </c:spPr>
          </c:dPt>
          <c:dPt>
            <c:idx val="1"/>
            <c:invertIfNegative val="0"/>
            <c:bubble3D val="0"/>
            <c:spPr>
              <a:solidFill>
                <a:srgbClr val="C3CBD8"/>
              </a:solidFill>
              <a:effectLst/>
            </c:spPr>
          </c:dPt>
          <c:dPt>
            <c:idx val="2"/>
            <c:invertIfNegative val="0"/>
            <c:bubble3D val="0"/>
            <c:spPr>
              <a:solidFill>
                <a:srgbClr val="C3CBD8"/>
              </a:solidFill>
              <a:effectLst/>
            </c:spPr>
          </c:dPt>
          <c:dPt>
            <c:idx val="3"/>
            <c:invertIfNegative val="0"/>
            <c:bubble3D val="0"/>
            <c:spPr>
              <a:solidFill>
                <a:srgbClr val="C3CBD8"/>
              </a:solidFill>
              <a:effectLst/>
            </c:spPr>
          </c:dPt>
          <c:dPt>
            <c:idx val="4"/>
            <c:invertIfNegative val="0"/>
            <c:bubble3D val="0"/>
            <c:spPr>
              <a:solidFill>
                <a:srgbClr val="C3CBD8"/>
              </a:solidFill>
              <a:effectLst/>
            </c:spPr>
          </c:dPt>
          <c:cat>
            <c:multiLvlStrRef>
              <c:f>Sheet1!$A$2:$A$6</c:f>
              <c:multiLvlStrCache>
                <c:ptCount val="5"/>
                <c:lvl>
                  <c:pt idx="0">
                    <c:v>Entregable 1</c:v>
                  </c:pt>
                  <c:pt idx="1">
                    <c:v>Entregable 2</c:v>
                  </c:pt>
                  <c:pt idx="2">
                    <c:v>Entregable 3</c:v>
                  </c:pt>
                  <c:pt idx="3">
                    <c:v>Entregable 4</c:v>
                  </c:pt>
                  <c:pt idx="4">
                    <c:v>Entregable 5</c:v>
                  </c:pt>
                </c:lvl>
              </c:multiLvlStrCache>
            </c:multiLvlStrRef>
          </c:cat>
          <c:val>
            <c:numRef>
              <c:f>Sheet1!$B$2:$B$6</c:f>
              <c:numCache>
                <c:formatCode>General</c:formatCode>
                <c:ptCount val="5"/>
                <c:pt idx="0">
                  <c:v>15</c:v>
                </c:pt>
                <c:pt idx="1">
                  <c:v>30</c:v>
                </c:pt>
                <c:pt idx="2">
                  <c:v>50</c:v>
                </c:pt>
                <c:pt idx="3">
                  <c:v>70</c:v>
                </c:pt>
                <c:pt idx="4">
                  <c:v>100</c:v>
                </c:pt>
              </c:numCache>
            </c:numRef>
          </c:val>
        </c:ser>
        <c:dLbls>
          <c:numFmt formatCode="#,##0.##" sourceLinked="0"/>
          <c:txPr>
            <a:bodyPr/>
            <a:lstStyle/>
            <a:p>
              <a:pPr>
                <a:defRPr b="0" i="0" strike="noStrike" sz="1400" u="none">
                  <a:solidFill>
                    <a:srgbClr val="1B243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2430"/>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675"/>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dato de cuánta gente no tiene formación está pendiente de una encuesta propia. Las revisiones de VR que encontramos son de RCP, no de quemaduras, así que no las citamos como resultado sobre nuestro tema. En el curso trabajamos con el Interaction SDK de Meta XR: agarre con las manos, agarre a distancia y poses de la mano; esa es la base de las interacciones.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persona final (nombre, edad, ocupación) todavía está pendiente de completar con la encuesta; hoy la definimos como alguien joven o adulto, sin formación en primeros auxilios.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 los cinco requisitos funcionales del documento (RF1 a RF5); RF2 y RF3 se juntaron en una sola tarjeta porque son un mismo paso.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principios de la sección 4.2 del documento: visibilidad y affordances, feedback, error humano asumido, y facilidad de aprendizaje con divulgación progresiva.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corresponde al Entregable 1 del cronograma; lo que falta ya está planificado para los siguientes entregables.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0">
    <p:bg>
      <p:bgPr>
        <a:solidFill>
          <a:srgbClr val="14213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1">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868680"/>
            <a:ext cx="10728655" cy="1143000"/>
          </a:xfrm>
          <a:prstGeom prst="rect">
            <a:avLst/>
          </a:prstGeom>
          <a:noFill/>
          <a:ln/>
        </p:spPr>
        <p:txBody>
          <a:bodyPr wrap="square" rtlCol="0"/>
          <a:lstStyle>
            <a:lvl1pPr algn="l" indent="0" marL="0">
              <a:buNone/>
              <a:defRPr lang="en-US" sz="3600" b="1" dirty="0">
                <a:solidFill>
                  <a:srgbClr val="1B2430"/>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1153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2">
    <p:bg>
      <p:bgPr>
        <a:solidFill>
          <a:srgbClr val="E07A1F"/>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3">
    <p:bg>
      <p:bgPr>
        <a:solidFill>
          <a:srgbClr val="F5A25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868680"/>
            <a:ext cx="10728655" cy="1143000"/>
          </a:xfrm>
          <a:prstGeom prst="rect">
            <a:avLst/>
          </a:prstGeom>
          <a:noFill/>
          <a:ln/>
        </p:spPr>
        <p:txBody>
          <a:bodyPr wrap="square" rtlCol="0"/>
          <a:lstStyle>
            <a:lvl1pPr algn="l" indent="0" marL="0">
              <a:buNone/>
              <a:defRPr lang="en-US" sz="3600" b="1" dirty="0">
                <a:solidFill>
                  <a:srgbClr val="11111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1153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33122"/>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M4">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868680"/>
            <a:ext cx="10728655" cy="1143000"/>
          </a:xfrm>
          <a:prstGeom prst="rect">
            <a:avLst/>
          </a:prstGeom>
          <a:noFill/>
          <a:ln/>
        </p:spPr>
        <p:txBody>
          <a:bodyPr wrap="square" rtlCol="0"/>
          <a:lstStyle>
            <a:lvl1pPr algn="l" indent="0" marL="0">
              <a:buNone/>
              <a:defRPr lang="en-US" sz="36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1153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CBCED4"/>
                </a:solidFill>
                <a:latin typeface="Calibri"/>
                <a:ea typeface="Calibri"/>
                <a:cs typeface="Calibri"/>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M5">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0" y="868680"/>
            <a:ext cx="6428232" cy="1371600"/>
          </a:xfrm>
          <a:prstGeom prst="rect">
            <a:avLst/>
          </a:prstGeom>
          <a:noFill/>
          <a:ln/>
        </p:spPr>
        <p:txBody>
          <a:bodyPr wrap="square" rtlCol="0"/>
          <a:lstStyle>
            <a:lvl1pPr algn="l" indent="0" marL="0">
              <a:buNone/>
              <a:defRPr lang="en-US" sz="3200" b="1" dirty="0">
                <a:solidFill>
                  <a:srgbClr val="1B2430"/>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1153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5"/>
                </a:solidFill>
                <a:latin typeface="Calibri"/>
                <a:ea typeface="Calibri"/>
                <a:cs typeface="Calibri"/>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M6">
    <p:bg>
      <p:bgPr>
        <a:solidFill>
          <a:srgbClr val="E07A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868680"/>
            <a:ext cx="10728655" cy="1143000"/>
          </a:xfrm>
          <a:prstGeom prst="rect">
            <a:avLst/>
          </a:prstGeom>
          <a:noFill/>
          <a:ln/>
        </p:spPr>
        <p:txBody>
          <a:bodyPr wrap="square" rtlCol="0"/>
          <a:lstStyle>
            <a:lvl1pPr algn="l" indent="0" marL="0">
              <a:buNone/>
              <a:defRPr lang="en-US" sz="3600" b="1" dirty="0">
                <a:solidFill>
                  <a:srgbClr val="11111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1153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3F2814"/>
                </a:solidFill>
                <a:latin typeface="Calibri"/>
                <a:ea typeface="Calibri"/>
                <a:cs typeface="Calibri"/>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M7">
    <p:bg>
      <p:bgPr>
        <a:solidFill>
          <a:srgbClr val="14213D"/>
        </a:solidFill>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M8">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868680"/>
            <a:ext cx="10728655" cy="914400"/>
          </a:xfrm>
          <a:prstGeom prst="rect">
            <a:avLst/>
          </a:prstGeom>
          <a:noFill/>
          <a:ln/>
        </p:spPr>
        <p:txBody>
          <a:bodyPr wrap="square" rtlCol="0"/>
          <a:lstStyle>
            <a:lvl1pPr algn="l" indent="0" marL="0">
              <a:buNone/>
              <a:defRPr lang="en-US" sz="3200" b="1" dirty="0">
                <a:solidFill>
                  <a:srgbClr val="1B2430"/>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1153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5"/>
                </a:solidFill>
                <a:latin typeface="Calibri"/>
                <a:ea typeface="Calibri"/>
                <a:cs typeface="Calibri"/>
              </a:defRPr>
            </a:lvl1pPr>
          </a:lstStyle>
          <a:p>
            <a:pPr algn="r"/>
            <a:fld id="{F7021451-1387-4CA6-816F-3879F97B5CBC}" type="slidenum">
              <a:rPr b="0" lang="en-US"/>
              <a:t>1010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7.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ersona con un visor de realidad virtual, en un ambiente oscuro">    </p:cNvPr>
          <p:cNvPicPr>
            <a:picLocks noChangeAspect="1"/>
          </p:cNvPicPr>
          <p:nvPr/>
        </p:nvPicPr>
        <p:blipFill>
          <a:blip r:embed="rId1"/>
          <a:srcRect l="1" r="1"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4213D">
              <a:alpha val="60000"/>
            </a:srgbClr>
          </a:solidFill>
          <a:ln/>
        </p:spPr>
      </p:sp>
      <p:sp>
        <p:nvSpPr>
          <p:cNvPr id="4" name="Shape 1"/>
          <p:cNvSpPr/>
          <p:nvPr/>
        </p:nvSpPr>
        <p:spPr>
          <a:xfrm>
            <a:off x="822960" y="731520"/>
            <a:ext cx="4218127" cy="402336"/>
          </a:xfrm>
          <a:prstGeom prst="roundRect">
            <a:avLst>
              <a:gd name="adj" fmla="val 50000"/>
            </a:avLst>
          </a:prstGeom>
          <a:solidFill>
            <a:srgbClr val="E07A1F"/>
          </a:solidFill>
          <a:ln/>
        </p:spPr>
      </p:sp>
      <p:sp>
        <p:nvSpPr>
          <p:cNvPr id="5" name="Text 2"/>
          <p:cNvSpPr txBox="1"/>
          <p:nvPr/>
        </p:nvSpPr>
        <p:spPr>
          <a:xfrm>
            <a:off x="822960" y="731520"/>
            <a:ext cx="4218127" cy="402336"/>
          </a:xfrm>
          <a:prstGeom prst="rect">
            <a:avLst/>
          </a:prstGeom>
          <a:noFill/>
          <a:ln/>
        </p:spPr>
        <p:txBody>
          <a:bodyPr wrap="square" lIns="0" tIns="0" rIns="0" bIns="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CS2H01 · Human-Computer Interaction</a:t>
            </a:r>
            <a:endParaRPr lang="en-US" sz="1300" dirty="0"/>
          </a:p>
        </p:txBody>
      </p:sp>
      <p:sp>
        <p:nvSpPr>
          <p:cNvPr id="6" name="Text 3"/>
          <p:cNvSpPr txBox="1"/>
          <p:nvPr/>
        </p:nvSpPr>
        <p:spPr>
          <a:xfrm>
            <a:off x="822960" y="1188720"/>
            <a:ext cx="9509760" cy="3291840"/>
          </a:xfrm>
          <a:prstGeom prst="rect">
            <a:avLst/>
          </a:prstGeom>
          <a:noFill/>
          <a:ln/>
        </p:spPr>
        <p:txBody>
          <a:bodyPr wrap="square" lIns="0" tIns="0" rIns="0" bIns="0" rtlCol="0" anchor="b"/>
          <a:lstStyle/>
          <a:p>
            <a:pPr indent="0" marL="0">
              <a:buNone/>
            </a:pPr>
            <a:r>
              <a:rPr lang="en-US" sz="6200" b="1" dirty="0">
                <a:solidFill>
                  <a:srgbClr val="FFFFFF"/>
                </a:solidFill>
                <a:latin typeface="Cambria" pitchFamily="34" charset="0"/>
                <a:ea typeface="Cambria" pitchFamily="34" charset="-122"/>
                <a:cs typeface="Cambria" pitchFamily="34" charset="-120"/>
              </a:rPr>
              <a:t>Aprender a actuar ante una quemadura, sin miedo a equivocarse</a:t>
            </a:r>
            <a:endParaRPr lang="en-US" sz="6200" dirty="0"/>
          </a:p>
        </p:txBody>
      </p:sp>
      <p:sp>
        <p:nvSpPr>
          <p:cNvPr id="7" name="Text 4"/>
          <p:cNvSpPr txBox="1"/>
          <p:nvPr/>
        </p:nvSpPr>
        <p:spPr>
          <a:xfrm>
            <a:off x="822960" y="4709160"/>
            <a:ext cx="8595360" cy="82296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Hito 1 · Prototipo de una experiencia en realidad virtual</a:t>
            </a:r>
            <a:endParaRPr lang="en-US" sz="2400" dirty="0"/>
          </a:p>
        </p:txBody>
      </p:sp>
      <p:sp>
        <p:nvSpPr>
          <p:cNvPr id="8" name="Text 5"/>
          <p:cNvSpPr txBox="1"/>
          <p:nvPr/>
        </p:nvSpPr>
        <p:spPr>
          <a:xfrm>
            <a:off x="822960" y="6035040"/>
            <a:ext cx="822960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Sebastian Sanchez, Aracely Ayala y Jose Osnayo, Septiembre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731520" y="868680"/>
            <a:ext cx="10728655" cy="1143000"/>
          </a:xfrm>
          <a:prstGeom prst="rect">
            <a:avLst/>
          </a:prstGeom>
          <a:noFill/>
          <a:ln/>
        </p:spPr>
        <p:txBody>
          <a:bodyPr wrap="square" lIns="0" tIns="0" rIns="0" bIns="0" rtlCol="0" anchor="t"/>
          <a:lstStyle/>
          <a:p>
            <a:pPr algn="l" indent="0" marL="0">
              <a:buNone/>
            </a:pPr>
            <a:r>
              <a:rPr lang="en-US" sz="3600" b="1" dirty="0">
                <a:solidFill>
                  <a:srgbClr val="1B2430"/>
                </a:solidFill>
                <a:latin typeface="Cambria" pitchFamily="34" charset="0"/>
                <a:ea typeface="Cambria" pitchFamily="34" charset="-122"/>
                <a:cs typeface="Cambria" pitchFamily="34" charset="-120"/>
              </a:rPr>
              <a:t>Una quemadura de cocina exige actuar rápido, y no todos aprendimos cómo</a:t>
            </a:r>
            <a:endParaRPr lang="en-US" sz="3600" dirty="0"/>
          </a:p>
        </p:txBody>
      </p:sp>
      <p:pic>
        <p:nvPicPr>
          <p:cNvPr id="4" name="foto_redondeada" descr="Ollas de metal sobre una hornilla con fuego">    </p:cNvPr>
          <p:cNvPicPr>
            <a:picLocks noChangeAspect="1"/>
          </p:cNvPicPr>
          <p:nvPr/>
        </p:nvPicPr>
        <p:blipFill>
          <a:blip r:embed="rId1"/>
          <a:srcRect l="19" r="19" t="0" b="0"/>
          <a:stretch/>
        </p:blipFill>
        <p:spPr>
          <a:xfrm>
            <a:off x="7589520" y="2240280"/>
            <a:ext cx="3870655" cy="3749040"/>
          </a:xfrm>
          <a:prstGeom prst="roundRect">
            <a:avLst>
              <a:gd name="adj" fmla="val 9000"/>
            </a:avLst>
          </a:prstGeom>
        </p:spPr>
      </p:pic>
      <p:sp>
        <p:nvSpPr>
          <p:cNvPr id="5" name="Text 1"/>
          <p:cNvSpPr txBox="1"/>
          <p:nvPr/>
        </p:nvSpPr>
        <p:spPr>
          <a:xfrm>
            <a:off x="731520" y="2240280"/>
            <a:ext cx="6309360" cy="3840480"/>
          </a:xfrm>
          <a:prstGeom prst="rect">
            <a:avLst/>
          </a:prstGeom>
          <a:noFill/>
          <a:ln/>
        </p:spPr>
        <p:txBody>
          <a:bodyPr wrap="square" lIns="0" tIns="0" rIns="0" bIns="0" rtlCol="0" anchor="t"/>
          <a:lstStyle/>
          <a:p>
            <a:pPr marL="254000" indent="-254000">
              <a:spcAft>
                <a:spcPts val="1400"/>
              </a:spcAft>
              <a:buSzPct val="100000"/>
              <a:buChar char="•"/>
            </a:pPr>
            <a:r>
              <a:rPr lang="en-US" sz="2400" dirty="0">
                <a:solidFill>
                  <a:srgbClr val="1B2430"/>
                </a:solidFill>
                <a:latin typeface="Calibri" pitchFamily="34" charset="0"/>
                <a:ea typeface="Calibri" pitchFamily="34" charset="-122"/>
                <a:cs typeface="Calibri" pitchFamily="34" charset="-120"/>
              </a:rPr>
              <a:t>Pasa al tocar una olla o un recipiente caliente, y exige responder de inmediato.</a:t>
            </a:r>
            <a:endParaRPr lang="en-US" sz="2400" dirty="0"/>
          </a:p>
          <a:p>
            <a:pPr marL="254000" indent="-254000">
              <a:spcAft>
                <a:spcPts val="1400"/>
              </a:spcAft>
              <a:buSzPct val="100000"/>
              <a:buChar char="•"/>
            </a:pPr>
            <a:r>
              <a:rPr lang="en-US" sz="2400" dirty="0">
                <a:solidFill>
                  <a:srgbClr val="1B2430"/>
                </a:solidFill>
                <a:latin typeface="Calibri" pitchFamily="34" charset="0"/>
                <a:ea typeface="Calibri" pitchFamily="34" charset="-122"/>
                <a:cs typeface="Calibri" pitchFamily="34" charset="-120"/>
              </a:rPr>
              <a:t>Armamos una experiencia en VR donde se practica, sin que nadie salga lastimado de verdad.</a:t>
            </a:r>
            <a:endParaRPr lang="en-US" sz="2400" dirty="0"/>
          </a:p>
        </p:txBody>
      </p:sp>
      <p:sp>
        <p:nvSpPr>
          <p:cNvPr id="25" name="Slide Number Placeholder 0"/>
          <p:cNvSpPr>
            <a:spLocks noGrp="1"/>
          </p:cNvSpPr>
          <p:nvPr>
            <p:ph type="sldNum" sz="quarter" idx="4294967295"/>
          </p:nvPr>
        </p:nvSpPr>
        <p:spPr>
          <a:xfrm>
            <a:off x="1091153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863840" y="-1463040"/>
            <a:ext cx="6583680" cy="6583680"/>
          </a:xfrm>
          <a:prstGeom prst="ellipse">
            <a:avLst/>
          </a:prstGeom>
          <a:solidFill>
            <a:srgbClr val="E48B3C"/>
          </a:solidFill>
          <a:ln/>
        </p:spPr>
      </p:sp>
      <p:sp>
        <p:nvSpPr>
          <p:cNvPr id="3" name="Text 1"/>
          <p:cNvSpPr txBox="1"/>
          <p:nvPr/>
        </p:nvSpPr>
        <p:spPr>
          <a:xfrm>
            <a:off x="731520" y="3291840"/>
            <a:ext cx="9875520" cy="2377440"/>
          </a:xfrm>
          <a:prstGeom prst="rect">
            <a:avLst/>
          </a:prstGeom>
          <a:noFill/>
          <a:ln/>
        </p:spPr>
        <p:txBody>
          <a:bodyPr wrap="square" lIns="0" tIns="0" rIns="0" bIns="0" rtlCol="0" anchor="b"/>
          <a:lstStyle/>
          <a:p>
            <a:pPr indent="0" marL="0">
              <a:buNone/>
            </a:pPr>
            <a:r>
              <a:rPr lang="en-US" sz="4000" b="1" dirty="0">
                <a:solidFill>
                  <a:srgbClr val="111111"/>
                </a:solidFill>
                <a:latin typeface="Cambria" pitchFamily="34" charset="0"/>
                <a:ea typeface="Cambria" pitchFamily="34" charset="-122"/>
                <a:cs typeface="Cambria" pitchFamily="34" charset="-120"/>
              </a:rPr>
              <a:t>Que alguien sin formación practique, sin miedo a equivocarse, los pasos ante una quemadura</a:t>
            </a:r>
            <a:endParaRPr lang="en-US" sz="4000" dirty="0"/>
          </a:p>
        </p:txBody>
      </p:sp>
      <p:sp>
        <p:nvSpPr>
          <p:cNvPr id="4" name="Text 2"/>
          <p:cNvSpPr txBox="1"/>
          <p:nvPr/>
        </p:nvSpPr>
        <p:spPr>
          <a:xfrm>
            <a:off x="731520" y="5760720"/>
            <a:ext cx="8686800" cy="640080"/>
          </a:xfrm>
          <a:prstGeom prst="rect">
            <a:avLst/>
          </a:prstGeom>
          <a:noFill/>
          <a:ln/>
        </p:spPr>
        <p:txBody>
          <a:bodyPr wrap="square" lIns="0" tIns="0" rIns="0" bIns="0" rtlCol="0" anchor="t"/>
          <a:lstStyle/>
          <a:p>
            <a:pPr indent="0" marL="0">
              <a:buNone/>
            </a:pPr>
            <a:r>
              <a:rPr lang="en-US" sz="2200" dirty="0">
                <a:solidFill>
                  <a:srgbClr val="111111"/>
                </a:solidFill>
                <a:latin typeface="Calibri" pitchFamily="34" charset="0"/>
                <a:ea typeface="Calibri" pitchFamily="34" charset="-122"/>
                <a:cs typeface="Calibri" pitchFamily="34" charset="-120"/>
              </a:rPr>
              <a:t>Sin reemplazar un curso certificado.</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731520" y="868680"/>
            <a:ext cx="10728655" cy="1143000"/>
          </a:xfrm>
          <a:prstGeom prst="rect">
            <a:avLst/>
          </a:prstGeom>
          <a:noFill/>
          <a:ln/>
        </p:spPr>
        <p:txBody>
          <a:bodyPr wrap="square" lIns="0" tIns="0" rIns="0" bIns="0" rtlCol="0" anchor="t"/>
          <a:lstStyle/>
          <a:p>
            <a:pPr algn="l" indent="0" marL="0">
              <a:buNone/>
            </a:pPr>
            <a:r>
              <a:rPr lang="en-US" sz="3600" b="1" dirty="0">
                <a:solidFill>
                  <a:srgbClr val="1B2430"/>
                </a:solidFill>
                <a:latin typeface="Cambria" pitchFamily="34" charset="0"/>
                <a:ea typeface="Cambria" pitchFamily="34" charset="-122"/>
                <a:cs typeface="Cambria" pitchFamily="34" charset="-120"/>
              </a:rPr>
              <a:t>La experiencia tiene tres roles: quien aprende, quien se quema y quien guía</a:t>
            </a:r>
            <a:endParaRPr lang="en-US" sz="3600" dirty="0"/>
          </a:p>
        </p:txBody>
      </p:sp>
      <p:sp>
        <p:nvSpPr>
          <p:cNvPr id="4" name="Shape 1"/>
          <p:cNvSpPr/>
          <p:nvPr/>
        </p:nvSpPr>
        <p:spPr>
          <a:xfrm>
            <a:off x="731520" y="2240280"/>
            <a:ext cx="3362858" cy="3246120"/>
          </a:xfrm>
          <a:prstGeom prst="roundRect">
            <a:avLst>
              <a:gd name="adj" fmla="val 7887"/>
            </a:avLst>
          </a:prstGeom>
          <a:solidFill>
            <a:srgbClr val="14213D"/>
          </a:solidFill>
          <a:ln/>
        </p:spPr>
      </p:sp>
      <p:sp>
        <p:nvSpPr>
          <p:cNvPr id="5" name="Text 2"/>
          <p:cNvSpPr txBox="1"/>
          <p:nvPr/>
        </p:nvSpPr>
        <p:spPr>
          <a:xfrm>
            <a:off x="987552" y="2560320"/>
            <a:ext cx="2850794" cy="86868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El aprendiz</a:t>
            </a:r>
            <a:endParaRPr lang="en-US" sz="2400" dirty="0"/>
          </a:p>
        </p:txBody>
      </p:sp>
      <p:sp>
        <p:nvSpPr>
          <p:cNvPr id="6" name="Text 3"/>
          <p:cNvSpPr txBox="1"/>
          <p:nvPr/>
        </p:nvSpPr>
        <p:spPr>
          <a:xfrm>
            <a:off x="987552" y="3474720"/>
            <a:ext cx="2850794" cy="173736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El usuario. Vive la escena en primera persona.</a:t>
            </a:r>
            <a:endParaRPr lang="en-US" sz="2000" dirty="0"/>
          </a:p>
        </p:txBody>
      </p:sp>
      <p:sp>
        <p:nvSpPr>
          <p:cNvPr id="7" name="Shape 4"/>
          <p:cNvSpPr/>
          <p:nvPr/>
        </p:nvSpPr>
        <p:spPr>
          <a:xfrm>
            <a:off x="4414418" y="2651760"/>
            <a:ext cx="3362858" cy="3246120"/>
          </a:xfrm>
          <a:prstGeom prst="roundRect">
            <a:avLst>
              <a:gd name="adj" fmla="val 7887"/>
            </a:avLst>
          </a:prstGeom>
          <a:solidFill>
            <a:srgbClr val="E07A1F"/>
          </a:solidFill>
          <a:ln/>
        </p:spPr>
      </p:sp>
      <p:sp>
        <p:nvSpPr>
          <p:cNvPr id="8" name="Text 5"/>
          <p:cNvSpPr txBox="1"/>
          <p:nvPr/>
        </p:nvSpPr>
        <p:spPr>
          <a:xfrm>
            <a:off x="4670450" y="2971800"/>
            <a:ext cx="2850794" cy="868680"/>
          </a:xfrm>
          <a:prstGeom prst="rect">
            <a:avLst/>
          </a:prstGeom>
          <a:noFill/>
          <a:ln/>
        </p:spPr>
        <p:txBody>
          <a:bodyPr wrap="square" lIns="0" tIns="0" rIns="0" bIns="0" rtlCol="0" anchor="t"/>
          <a:lstStyle/>
          <a:p>
            <a:pPr indent="0" marL="0">
              <a:buNone/>
            </a:pPr>
            <a:r>
              <a:rPr lang="en-US" sz="2400" b="1" dirty="0">
                <a:solidFill>
                  <a:srgbClr val="111111"/>
                </a:solidFill>
                <a:latin typeface="Cambria" pitchFamily="34" charset="0"/>
                <a:ea typeface="Cambria" pitchFamily="34" charset="-122"/>
                <a:cs typeface="Cambria" pitchFamily="34" charset="-120"/>
              </a:rPr>
              <a:t>El familiar afectado</a:t>
            </a:r>
            <a:endParaRPr lang="en-US" sz="2400" dirty="0"/>
          </a:p>
        </p:txBody>
      </p:sp>
      <p:sp>
        <p:nvSpPr>
          <p:cNvPr id="9" name="Text 6"/>
          <p:cNvSpPr txBox="1"/>
          <p:nvPr/>
        </p:nvSpPr>
        <p:spPr>
          <a:xfrm>
            <a:off x="4670450" y="3886200"/>
            <a:ext cx="2850794" cy="1737360"/>
          </a:xfrm>
          <a:prstGeom prst="rect">
            <a:avLst/>
          </a:prstGeom>
          <a:noFill/>
          <a:ln/>
        </p:spPr>
        <p:txBody>
          <a:bodyPr wrap="square" lIns="0" tIns="0" rIns="0" bIns="0" rtlCol="0" anchor="t"/>
          <a:lstStyle/>
          <a:p>
            <a:pPr indent="0" marL="0">
              <a:buNone/>
            </a:pPr>
            <a:r>
              <a:rPr lang="en-US" sz="2000" dirty="0">
                <a:solidFill>
                  <a:srgbClr val="111111"/>
                </a:solidFill>
                <a:latin typeface="Calibri" pitchFamily="34" charset="0"/>
                <a:ea typeface="Calibri" pitchFamily="34" charset="-122"/>
                <a:cs typeface="Calibri" pitchFamily="34" charset="-120"/>
              </a:rPr>
              <a:t>Se quema con la olla; no es jugable.</a:t>
            </a:r>
            <a:endParaRPr lang="en-US" sz="2000" dirty="0"/>
          </a:p>
        </p:txBody>
      </p:sp>
      <p:sp>
        <p:nvSpPr>
          <p:cNvPr id="10" name="Shape 7"/>
          <p:cNvSpPr/>
          <p:nvPr/>
        </p:nvSpPr>
        <p:spPr>
          <a:xfrm>
            <a:off x="8097317" y="2240280"/>
            <a:ext cx="3362858" cy="3246120"/>
          </a:xfrm>
          <a:prstGeom prst="roundRect">
            <a:avLst>
              <a:gd name="adj" fmla="val 7887"/>
            </a:avLst>
          </a:prstGeom>
          <a:solidFill>
            <a:srgbClr val="F5A25D"/>
          </a:solidFill>
          <a:ln/>
        </p:spPr>
      </p:sp>
      <p:sp>
        <p:nvSpPr>
          <p:cNvPr id="11" name="Text 8"/>
          <p:cNvSpPr txBox="1"/>
          <p:nvPr/>
        </p:nvSpPr>
        <p:spPr>
          <a:xfrm>
            <a:off x="8353349" y="2560320"/>
            <a:ext cx="2850794" cy="868680"/>
          </a:xfrm>
          <a:prstGeom prst="rect">
            <a:avLst/>
          </a:prstGeom>
          <a:noFill/>
          <a:ln/>
        </p:spPr>
        <p:txBody>
          <a:bodyPr wrap="square" lIns="0" tIns="0" rIns="0" bIns="0" rtlCol="0" anchor="t"/>
          <a:lstStyle/>
          <a:p>
            <a:pPr indent="0" marL="0">
              <a:buNone/>
            </a:pPr>
            <a:r>
              <a:rPr lang="en-US" sz="2400" b="1" dirty="0">
                <a:solidFill>
                  <a:srgbClr val="111111"/>
                </a:solidFill>
                <a:latin typeface="Cambria" pitchFamily="34" charset="0"/>
                <a:ea typeface="Cambria" pitchFamily="34" charset="-122"/>
                <a:cs typeface="Cambria" pitchFamily="34" charset="-120"/>
              </a:rPr>
              <a:t>La guía</a:t>
            </a:r>
            <a:endParaRPr lang="en-US" sz="2400" dirty="0"/>
          </a:p>
        </p:txBody>
      </p:sp>
      <p:sp>
        <p:nvSpPr>
          <p:cNvPr id="12" name="Text 9"/>
          <p:cNvSpPr txBox="1"/>
          <p:nvPr/>
        </p:nvSpPr>
        <p:spPr>
          <a:xfrm>
            <a:off x="8353349" y="3474720"/>
            <a:ext cx="2850794" cy="1737360"/>
          </a:xfrm>
          <a:prstGeom prst="rect">
            <a:avLst/>
          </a:prstGeom>
          <a:noFill/>
          <a:ln/>
        </p:spPr>
        <p:txBody>
          <a:bodyPr wrap="square" lIns="0" tIns="0" rIns="0" bIns="0" rtlCol="0" anchor="t"/>
          <a:lstStyle/>
          <a:p>
            <a:pPr indent="0" marL="0">
              <a:buNone/>
            </a:pPr>
            <a:r>
              <a:rPr lang="en-US" sz="2000" dirty="0">
                <a:solidFill>
                  <a:srgbClr val="111111"/>
                </a:solidFill>
                <a:latin typeface="Calibri" pitchFamily="34" charset="0"/>
                <a:ea typeface="Calibri" pitchFamily="34" charset="-122"/>
                <a:cs typeface="Calibri" pitchFamily="34" charset="-120"/>
              </a:rPr>
              <a:t>La voz que instruye, nunca un comando.</a:t>
            </a:r>
            <a:endParaRPr lang="en-US" sz="2000" dirty="0"/>
          </a:p>
        </p:txBody>
      </p:sp>
      <p:sp>
        <p:nvSpPr>
          <p:cNvPr id="25" name="Slide Number Placeholder 0"/>
          <p:cNvSpPr>
            <a:spLocks noGrp="1"/>
          </p:cNvSpPr>
          <p:nvPr>
            <p:ph type="sldNum" sz="quarter" idx="4294967295"/>
          </p:nvPr>
        </p:nvSpPr>
        <p:spPr>
          <a:xfrm>
            <a:off x="1091153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868680"/>
            <a:ext cx="10728655" cy="1143000"/>
          </a:xfrm>
          <a:prstGeom prst="rect">
            <a:avLst/>
          </a:prstGeom>
          <a:noFill/>
          <a:ln/>
        </p:spPr>
        <p:txBody>
          <a:bodyPr wrap="square" lIns="0" tIns="0" rIns="0" bIns="0" rtlCol="0" anchor="t"/>
          <a:lstStyle/>
          <a:p>
            <a:pPr algn="l" indent="0" marL="0">
              <a:buNone/>
            </a:pPr>
            <a:r>
              <a:rPr lang="en-US" sz="3600" b="1" dirty="0">
                <a:solidFill>
                  <a:srgbClr val="111111"/>
                </a:solidFill>
                <a:latin typeface="Cambria" pitchFamily="34" charset="0"/>
                <a:ea typeface="Cambria" pitchFamily="34" charset="-122"/>
                <a:cs typeface="Cambria" pitchFamily="34" charset="-120"/>
              </a:rPr>
              <a:t>El usuario vive el accidente y decide cómo responder, paso a paso</a:t>
            </a:r>
            <a:endParaRPr lang="en-US" sz="3600" dirty="0"/>
          </a:p>
        </p:txBody>
      </p:sp>
      <p:sp>
        <p:nvSpPr>
          <p:cNvPr id="3" name="Shape 1"/>
          <p:cNvSpPr/>
          <p:nvPr/>
        </p:nvSpPr>
        <p:spPr>
          <a:xfrm>
            <a:off x="1143000" y="3017520"/>
            <a:ext cx="8046491" cy="0"/>
          </a:xfrm>
          <a:prstGeom prst="line">
            <a:avLst/>
          </a:prstGeom>
          <a:noFill/>
          <a:ln w="25400">
            <a:solidFill>
              <a:srgbClr val="D58D51"/>
            </a:solidFill>
            <a:prstDash val="solid"/>
          </a:ln>
        </p:spPr>
      </p:sp>
      <p:sp>
        <p:nvSpPr>
          <p:cNvPr id="4" name="Shape 2"/>
          <p:cNvSpPr/>
          <p:nvPr/>
        </p:nvSpPr>
        <p:spPr>
          <a:xfrm>
            <a:off x="731520" y="2606040"/>
            <a:ext cx="822960" cy="822960"/>
          </a:xfrm>
          <a:prstGeom prst="ellipse">
            <a:avLst/>
          </a:prstGeom>
          <a:solidFill>
            <a:srgbClr val="14213D"/>
          </a:solidFill>
          <a:ln/>
        </p:spPr>
      </p:sp>
      <p:sp>
        <p:nvSpPr>
          <p:cNvPr id="5" name="Text 3"/>
          <p:cNvSpPr txBox="1"/>
          <p:nvPr/>
        </p:nvSpPr>
        <p:spPr>
          <a:xfrm>
            <a:off x="731520" y="260604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6" name="Text 4"/>
          <p:cNvSpPr txBox="1"/>
          <p:nvPr/>
        </p:nvSpPr>
        <p:spPr>
          <a:xfrm>
            <a:off x="731520" y="3794760"/>
            <a:ext cx="2407844" cy="822960"/>
          </a:xfrm>
          <a:prstGeom prst="rect">
            <a:avLst/>
          </a:prstGeom>
          <a:noFill/>
          <a:ln/>
        </p:spPr>
        <p:txBody>
          <a:bodyPr wrap="square" lIns="0" tIns="0" rIns="0" bIns="0" rtlCol="0" anchor="t"/>
          <a:lstStyle/>
          <a:p>
            <a:pPr indent="0" marL="0">
              <a:buNone/>
            </a:pPr>
            <a:r>
              <a:rPr lang="en-US" sz="2400" b="1" dirty="0">
                <a:solidFill>
                  <a:srgbClr val="111111"/>
                </a:solidFill>
                <a:latin typeface="Cambria" pitchFamily="34" charset="0"/>
                <a:ea typeface="Cambria" pitchFamily="34" charset="-122"/>
                <a:cs typeface="Cambria" pitchFamily="34" charset="-120"/>
              </a:rPr>
              <a:t>Planteamiento</a:t>
            </a:r>
            <a:endParaRPr lang="en-US" sz="2400" dirty="0"/>
          </a:p>
        </p:txBody>
      </p:sp>
      <p:sp>
        <p:nvSpPr>
          <p:cNvPr id="7" name="Text 5"/>
          <p:cNvSpPr txBox="1"/>
          <p:nvPr/>
        </p:nvSpPr>
        <p:spPr>
          <a:xfrm>
            <a:off x="731520" y="4617720"/>
            <a:ext cx="2407844" cy="1463040"/>
          </a:xfrm>
          <a:prstGeom prst="rect">
            <a:avLst/>
          </a:prstGeom>
          <a:noFill/>
          <a:ln/>
        </p:spPr>
        <p:txBody>
          <a:bodyPr wrap="square" lIns="0" tIns="0" rIns="0" bIns="0" rtlCol="0" anchor="t"/>
          <a:lstStyle/>
          <a:p>
            <a:pPr indent="0" marL="0">
              <a:buNone/>
            </a:pPr>
            <a:r>
              <a:rPr lang="en-US" sz="2000" dirty="0">
                <a:solidFill>
                  <a:srgbClr val="111111"/>
                </a:solidFill>
                <a:latin typeface="Calibri" pitchFamily="34" charset="0"/>
                <a:ea typeface="Calibri" pitchFamily="34" charset="-122"/>
                <a:cs typeface="Calibri" pitchFamily="34" charset="-120"/>
              </a:rPr>
              <a:t>Tutorial corto de agarrar y moverse.</a:t>
            </a:r>
            <a:endParaRPr lang="en-US" sz="2000" dirty="0"/>
          </a:p>
        </p:txBody>
      </p:sp>
      <p:sp>
        <p:nvSpPr>
          <p:cNvPr id="8" name="Shape 6"/>
          <p:cNvSpPr/>
          <p:nvPr/>
        </p:nvSpPr>
        <p:spPr>
          <a:xfrm>
            <a:off x="3413684" y="2606040"/>
            <a:ext cx="822960" cy="822960"/>
          </a:xfrm>
          <a:prstGeom prst="ellipse">
            <a:avLst/>
          </a:prstGeom>
          <a:solidFill>
            <a:srgbClr val="14213D"/>
          </a:solidFill>
          <a:ln/>
        </p:spPr>
      </p:sp>
      <p:sp>
        <p:nvSpPr>
          <p:cNvPr id="9" name="Text 7"/>
          <p:cNvSpPr txBox="1"/>
          <p:nvPr/>
        </p:nvSpPr>
        <p:spPr>
          <a:xfrm>
            <a:off x="3413684" y="260604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ext 8"/>
          <p:cNvSpPr txBox="1"/>
          <p:nvPr/>
        </p:nvSpPr>
        <p:spPr>
          <a:xfrm>
            <a:off x="3413684" y="3794760"/>
            <a:ext cx="2407844" cy="822960"/>
          </a:xfrm>
          <a:prstGeom prst="rect">
            <a:avLst/>
          </a:prstGeom>
          <a:noFill/>
          <a:ln/>
        </p:spPr>
        <p:txBody>
          <a:bodyPr wrap="square" lIns="0" tIns="0" rIns="0" bIns="0" rtlCol="0" anchor="t"/>
          <a:lstStyle/>
          <a:p>
            <a:pPr indent="0" marL="0">
              <a:buNone/>
            </a:pPr>
            <a:r>
              <a:rPr lang="en-US" sz="2400" b="1" dirty="0">
                <a:solidFill>
                  <a:srgbClr val="111111"/>
                </a:solidFill>
                <a:latin typeface="Cambria" pitchFamily="34" charset="0"/>
                <a:ea typeface="Cambria" pitchFamily="34" charset="-122"/>
                <a:cs typeface="Cambria" pitchFamily="34" charset="-120"/>
              </a:rPr>
              <a:t>Desarrollo</a:t>
            </a:r>
            <a:endParaRPr lang="en-US" sz="2400" dirty="0"/>
          </a:p>
        </p:txBody>
      </p:sp>
      <p:sp>
        <p:nvSpPr>
          <p:cNvPr id="11" name="Text 9"/>
          <p:cNvSpPr txBox="1"/>
          <p:nvPr/>
        </p:nvSpPr>
        <p:spPr>
          <a:xfrm>
            <a:off x="3413684" y="4617720"/>
            <a:ext cx="2407844" cy="1463040"/>
          </a:xfrm>
          <a:prstGeom prst="rect">
            <a:avLst/>
          </a:prstGeom>
          <a:noFill/>
          <a:ln/>
        </p:spPr>
        <p:txBody>
          <a:bodyPr wrap="square" lIns="0" tIns="0" rIns="0" bIns="0" rtlCol="0" anchor="t"/>
          <a:lstStyle/>
          <a:p>
            <a:pPr indent="0" marL="0">
              <a:buNone/>
            </a:pPr>
            <a:r>
              <a:rPr lang="en-US" sz="2000" dirty="0">
                <a:solidFill>
                  <a:srgbClr val="111111"/>
                </a:solidFill>
                <a:latin typeface="Calibri" pitchFamily="34" charset="0"/>
                <a:ea typeface="Calibri" pitchFamily="34" charset="-122"/>
                <a:cs typeface="Calibri" pitchFamily="34" charset="-120"/>
              </a:rPr>
              <a:t>El familiar se quema con la olla.</a:t>
            </a:r>
            <a:endParaRPr lang="en-US" sz="2000" dirty="0"/>
          </a:p>
        </p:txBody>
      </p:sp>
      <p:sp>
        <p:nvSpPr>
          <p:cNvPr id="12" name="Shape 10"/>
          <p:cNvSpPr/>
          <p:nvPr/>
        </p:nvSpPr>
        <p:spPr>
          <a:xfrm>
            <a:off x="6095848" y="2606040"/>
            <a:ext cx="822960" cy="822960"/>
          </a:xfrm>
          <a:prstGeom prst="ellipse">
            <a:avLst/>
          </a:prstGeom>
          <a:solidFill>
            <a:srgbClr val="14213D"/>
          </a:solidFill>
          <a:ln/>
        </p:spPr>
      </p:sp>
      <p:sp>
        <p:nvSpPr>
          <p:cNvPr id="13" name="Text 11"/>
          <p:cNvSpPr txBox="1"/>
          <p:nvPr/>
        </p:nvSpPr>
        <p:spPr>
          <a:xfrm>
            <a:off x="6095848" y="260604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14" name="Text 12"/>
          <p:cNvSpPr txBox="1"/>
          <p:nvPr/>
        </p:nvSpPr>
        <p:spPr>
          <a:xfrm>
            <a:off x="6095848" y="3794760"/>
            <a:ext cx="2407844" cy="822960"/>
          </a:xfrm>
          <a:prstGeom prst="rect">
            <a:avLst/>
          </a:prstGeom>
          <a:noFill/>
          <a:ln/>
        </p:spPr>
        <p:txBody>
          <a:bodyPr wrap="square" lIns="0" tIns="0" rIns="0" bIns="0" rtlCol="0" anchor="t"/>
          <a:lstStyle/>
          <a:p>
            <a:pPr indent="0" marL="0">
              <a:buNone/>
            </a:pPr>
            <a:r>
              <a:rPr lang="en-US" sz="2400" b="1" dirty="0">
                <a:solidFill>
                  <a:srgbClr val="111111"/>
                </a:solidFill>
                <a:latin typeface="Cambria" pitchFamily="34" charset="0"/>
                <a:ea typeface="Cambria" pitchFamily="34" charset="-122"/>
                <a:cs typeface="Cambria" pitchFamily="34" charset="-120"/>
              </a:rPr>
              <a:t>Clímax</a:t>
            </a:r>
            <a:endParaRPr lang="en-US" sz="2400" dirty="0"/>
          </a:p>
        </p:txBody>
      </p:sp>
      <p:sp>
        <p:nvSpPr>
          <p:cNvPr id="15" name="Text 13"/>
          <p:cNvSpPr txBox="1"/>
          <p:nvPr/>
        </p:nvSpPr>
        <p:spPr>
          <a:xfrm>
            <a:off x="6095848" y="4617720"/>
            <a:ext cx="2407844" cy="1463040"/>
          </a:xfrm>
          <a:prstGeom prst="rect">
            <a:avLst/>
          </a:prstGeom>
          <a:noFill/>
          <a:ln/>
        </p:spPr>
        <p:txBody>
          <a:bodyPr wrap="square" lIns="0" tIns="0" rIns="0" bIns="0" rtlCol="0" anchor="t"/>
          <a:lstStyle/>
          <a:p>
            <a:pPr indent="0" marL="0">
              <a:buNone/>
            </a:pPr>
            <a:r>
              <a:rPr lang="en-US" sz="2000" dirty="0">
                <a:solidFill>
                  <a:srgbClr val="111111"/>
                </a:solidFill>
                <a:latin typeface="Calibri" pitchFamily="34" charset="0"/>
                <a:ea typeface="Calibri" pitchFamily="34" charset="-122"/>
                <a:cs typeface="Calibri" pitchFamily="34" charset="-120"/>
              </a:rPr>
              <a:t>Lleva la mano bajo el agua.</a:t>
            </a:r>
            <a:endParaRPr lang="en-US" sz="2000" dirty="0"/>
          </a:p>
        </p:txBody>
      </p:sp>
      <p:sp>
        <p:nvSpPr>
          <p:cNvPr id="16" name="Shape 14"/>
          <p:cNvSpPr/>
          <p:nvPr/>
        </p:nvSpPr>
        <p:spPr>
          <a:xfrm>
            <a:off x="8778011" y="2606040"/>
            <a:ext cx="822960" cy="822960"/>
          </a:xfrm>
          <a:prstGeom prst="ellipse">
            <a:avLst/>
          </a:prstGeom>
          <a:solidFill>
            <a:srgbClr val="111111"/>
          </a:solidFill>
          <a:ln/>
        </p:spPr>
      </p:sp>
      <p:sp>
        <p:nvSpPr>
          <p:cNvPr id="17" name="Text 15"/>
          <p:cNvSpPr txBox="1"/>
          <p:nvPr/>
        </p:nvSpPr>
        <p:spPr>
          <a:xfrm>
            <a:off x="8778011" y="260604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4</a:t>
            </a:r>
            <a:endParaRPr lang="en-US" sz="2800" dirty="0"/>
          </a:p>
        </p:txBody>
      </p:sp>
      <p:sp>
        <p:nvSpPr>
          <p:cNvPr id="18" name="Text 16"/>
          <p:cNvSpPr txBox="1"/>
          <p:nvPr/>
        </p:nvSpPr>
        <p:spPr>
          <a:xfrm>
            <a:off x="8778011" y="3794760"/>
            <a:ext cx="2407844" cy="822960"/>
          </a:xfrm>
          <a:prstGeom prst="rect">
            <a:avLst/>
          </a:prstGeom>
          <a:noFill/>
          <a:ln/>
        </p:spPr>
        <p:txBody>
          <a:bodyPr wrap="square" lIns="0" tIns="0" rIns="0" bIns="0" rtlCol="0" anchor="t"/>
          <a:lstStyle/>
          <a:p>
            <a:pPr indent="0" marL="0">
              <a:buNone/>
            </a:pPr>
            <a:r>
              <a:rPr lang="en-US" sz="2400" b="1" dirty="0">
                <a:solidFill>
                  <a:srgbClr val="111111"/>
                </a:solidFill>
                <a:latin typeface="Cambria" pitchFamily="34" charset="0"/>
                <a:ea typeface="Cambria" pitchFamily="34" charset="-122"/>
                <a:cs typeface="Cambria" pitchFamily="34" charset="-120"/>
              </a:rPr>
              <a:t>Resolución</a:t>
            </a:r>
            <a:endParaRPr lang="en-US" sz="2400" dirty="0"/>
          </a:p>
        </p:txBody>
      </p:sp>
      <p:sp>
        <p:nvSpPr>
          <p:cNvPr id="19" name="Text 17"/>
          <p:cNvSpPr txBox="1"/>
          <p:nvPr/>
        </p:nvSpPr>
        <p:spPr>
          <a:xfrm>
            <a:off x="8778011" y="4617720"/>
            <a:ext cx="2407844" cy="1463040"/>
          </a:xfrm>
          <a:prstGeom prst="rect">
            <a:avLst/>
          </a:prstGeom>
          <a:noFill/>
          <a:ln/>
        </p:spPr>
        <p:txBody>
          <a:bodyPr wrap="square" lIns="0" tIns="0" rIns="0" bIns="0" rtlCol="0" anchor="t"/>
          <a:lstStyle/>
          <a:p>
            <a:pPr indent="0" marL="0">
              <a:buNone/>
            </a:pPr>
            <a:r>
              <a:rPr lang="en-US" sz="2000" dirty="0">
                <a:solidFill>
                  <a:srgbClr val="111111"/>
                </a:solidFill>
                <a:latin typeface="Calibri" pitchFamily="34" charset="0"/>
                <a:ea typeface="Calibri" pitchFamily="34" charset="-122"/>
                <a:cs typeface="Calibri" pitchFamily="34" charset="-120"/>
              </a:rPr>
              <a:t>Cubre la quemadura y ve el resumen.</a:t>
            </a:r>
            <a:endParaRPr lang="en-US" sz="2000" dirty="0"/>
          </a:p>
        </p:txBody>
      </p:sp>
      <p:sp>
        <p:nvSpPr>
          <p:cNvPr id="25" name="Slide Number Placeholder 0"/>
          <p:cNvSpPr>
            <a:spLocks noGrp="1"/>
          </p:cNvSpPr>
          <p:nvPr>
            <p:ph type="sldNum" sz="quarter" idx="4294967295"/>
          </p:nvPr>
        </p:nvSpPr>
        <p:spPr>
          <a:xfrm>
            <a:off x="1091153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3312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731520" y="868680"/>
            <a:ext cx="10728655" cy="1143000"/>
          </a:xfrm>
          <a:prstGeom prst="rect">
            <a:avLst/>
          </a:prstGeom>
          <a:noFill/>
          <a:ln/>
        </p:spPr>
        <p:txBody>
          <a:bodyPr wrap="square" lIns="0" tIns="0" rIns="0" bIns="0" rtlCol="0" anchor="t"/>
          <a:lstStyle/>
          <a:p>
            <a:pPr algn="l" indent="0" marL="0">
              <a:buNone/>
            </a:pPr>
            <a:r>
              <a:rPr lang="en-US" sz="3600" b="1" dirty="0">
                <a:solidFill>
                  <a:srgbClr val="1B2430"/>
                </a:solidFill>
                <a:latin typeface="Cambria" pitchFamily="34" charset="0"/>
                <a:ea typeface="Cambria" pitchFamily="34" charset="-122"/>
                <a:cs typeface="Cambria" pitchFamily="34" charset="-120"/>
              </a:rPr>
              <a:t>El usuario aprende viendo, actúa, y sabe cómo le fue</a:t>
            </a:r>
            <a:endParaRPr lang="en-US" sz="3600" dirty="0"/>
          </a:p>
        </p:txBody>
      </p:sp>
      <p:sp>
        <p:nvSpPr>
          <p:cNvPr id="4" name="Shape 1"/>
          <p:cNvSpPr/>
          <p:nvPr/>
        </p:nvSpPr>
        <p:spPr>
          <a:xfrm>
            <a:off x="731520" y="2240280"/>
            <a:ext cx="2442134" cy="3246120"/>
          </a:xfrm>
          <a:prstGeom prst="roundRect">
            <a:avLst>
              <a:gd name="adj" fmla="val 10484"/>
            </a:avLst>
          </a:prstGeom>
          <a:solidFill>
            <a:srgbClr val="14213D"/>
          </a:solidFill>
          <a:ln/>
        </p:spPr>
      </p:sp>
      <p:sp>
        <p:nvSpPr>
          <p:cNvPr id="5" name="Text 2"/>
          <p:cNvSpPr txBox="1"/>
          <p:nvPr/>
        </p:nvSpPr>
        <p:spPr>
          <a:xfrm>
            <a:off x="987552" y="2560320"/>
            <a:ext cx="1930070" cy="86868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Aprende viendo</a:t>
            </a:r>
            <a:endParaRPr lang="en-US" sz="2400" dirty="0"/>
          </a:p>
        </p:txBody>
      </p:sp>
      <p:sp>
        <p:nvSpPr>
          <p:cNvPr id="6" name="Text 3"/>
          <p:cNvSpPr txBox="1"/>
          <p:nvPr/>
        </p:nvSpPr>
        <p:spPr>
          <a:xfrm>
            <a:off x="987552" y="3474720"/>
            <a:ext cx="1930070" cy="173736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Pasos guiados por voz y manos fantasma.</a:t>
            </a:r>
            <a:endParaRPr lang="en-US" sz="2000" dirty="0"/>
          </a:p>
        </p:txBody>
      </p:sp>
      <p:sp>
        <p:nvSpPr>
          <p:cNvPr id="7" name="Shape 4"/>
          <p:cNvSpPr/>
          <p:nvPr/>
        </p:nvSpPr>
        <p:spPr>
          <a:xfrm>
            <a:off x="3493694" y="2651760"/>
            <a:ext cx="2442134" cy="3246120"/>
          </a:xfrm>
          <a:prstGeom prst="roundRect">
            <a:avLst>
              <a:gd name="adj" fmla="val 10484"/>
            </a:avLst>
          </a:prstGeom>
          <a:solidFill>
            <a:srgbClr val="E07A1F"/>
          </a:solidFill>
          <a:ln/>
        </p:spPr>
      </p:sp>
      <p:sp>
        <p:nvSpPr>
          <p:cNvPr id="8" name="Text 5"/>
          <p:cNvSpPr txBox="1"/>
          <p:nvPr/>
        </p:nvSpPr>
        <p:spPr>
          <a:xfrm>
            <a:off x="3749726" y="2971800"/>
            <a:ext cx="1930070" cy="868680"/>
          </a:xfrm>
          <a:prstGeom prst="rect">
            <a:avLst/>
          </a:prstGeom>
          <a:noFill/>
          <a:ln/>
        </p:spPr>
        <p:txBody>
          <a:bodyPr wrap="square" lIns="0" tIns="0" rIns="0" bIns="0" rtlCol="0" anchor="t"/>
          <a:lstStyle/>
          <a:p>
            <a:pPr indent="0" marL="0">
              <a:buNone/>
            </a:pPr>
            <a:r>
              <a:rPr lang="en-US" sz="2400" b="1" dirty="0">
                <a:solidFill>
                  <a:srgbClr val="111111"/>
                </a:solidFill>
                <a:latin typeface="Cambria" pitchFamily="34" charset="0"/>
                <a:ea typeface="Cambria" pitchFamily="34" charset="-122"/>
                <a:cs typeface="Cambria" pitchFamily="34" charset="-120"/>
              </a:rPr>
              <a:t>Enfría y cubre</a:t>
            </a:r>
            <a:endParaRPr lang="en-US" sz="2400" dirty="0"/>
          </a:p>
        </p:txBody>
      </p:sp>
      <p:sp>
        <p:nvSpPr>
          <p:cNvPr id="9" name="Text 6"/>
          <p:cNvSpPr txBox="1"/>
          <p:nvPr/>
        </p:nvSpPr>
        <p:spPr>
          <a:xfrm>
            <a:off x="3749726" y="3886200"/>
            <a:ext cx="1930070" cy="1737360"/>
          </a:xfrm>
          <a:prstGeom prst="rect">
            <a:avLst/>
          </a:prstGeom>
          <a:noFill/>
          <a:ln/>
        </p:spPr>
        <p:txBody>
          <a:bodyPr wrap="square" lIns="0" tIns="0" rIns="0" bIns="0" rtlCol="0" anchor="t"/>
          <a:lstStyle/>
          <a:p>
            <a:pPr indent="0" marL="0">
              <a:buNone/>
            </a:pPr>
            <a:r>
              <a:rPr lang="en-US" sz="2000" dirty="0">
                <a:solidFill>
                  <a:srgbClr val="111111"/>
                </a:solidFill>
                <a:latin typeface="Calibri" pitchFamily="34" charset="0"/>
                <a:ea typeface="Calibri" pitchFamily="34" charset="-122"/>
                <a:cs typeface="Calibri" pitchFamily="34" charset="-120"/>
              </a:rPr>
              <a:t>Mano bajo el agua y un paño limpio.</a:t>
            </a:r>
            <a:endParaRPr lang="en-US" sz="2000" dirty="0"/>
          </a:p>
        </p:txBody>
      </p:sp>
      <p:sp>
        <p:nvSpPr>
          <p:cNvPr id="10" name="Shape 7"/>
          <p:cNvSpPr/>
          <p:nvPr/>
        </p:nvSpPr>
        <p:spPr>
          <a:xfrm>
            <a:off x="6255868" y="2240280"/>
            <a:ext cx="2442134" cy="3246120"/>
          </a:xfrm>
          <a:prstGeom prst="roundRect">
            <a:avLst>
              <a:gd name="adj" fmla="val 10484"/>
            </a:avLst>
          </a:prstGeom>
          <a:solidFill>
            <a:srgbClr val="F5A25D"/>
          </a:solidFill>
          <a:ln/>
        </p:spPr>
      </p:sp>
      <p:sp>
        <p:nvSpPr>
          <p:cNvPr id="11" name="Text 8"/>
          <p:cNvSpPr txBox="1"/>
          <p:nvPr/>
        </p:nvSpPr>
        <p:spPr>
          <a:xfrm>
            <a:off x="6511900" y="2560320"/>
            <a:ext cx="1930070" cy="868680"/>
          </a:xfrm>
          <a:prstGeom prst="rect">
            <a:avLst/>
          </a:prstGeom>
          <a:noFill/>
          <a:ln/>
        </p:spPr>
        <p:txBody>
          <a:bodyPr wrap="square" lIns="0" tIns="0" rIns="0" bIns="0" rtlCol="0" anchor="t"/>
          <a:lstStyle/>
          <a:p>
            <a:pPr indent="0" marL="0">
              <a:buNone/>
            </a:pPr>
            <a:r>
              <a:rPr lang="en-US" sz="2400" b="1" dirty="0">
                <a:solidFill>
                  <a:srgbClr val="111111"/>
                </a:solidFill>
                <a:latin typeface="Cambria" pitchFamily="34" charset="0"/>
                <a:ea typeface="Cambria" pitchFamily="34" charset="-122"/>
                <a:cs typeface="Cambria" pitchFamily="34" charset="-120"/>
              </a:rPr>
              <a:t>Ve cuánto falta</a:t>
            </a:r>
            <a:endParaRPr lang="en-US" sz="2400" dirty="0"/>
          </a:p>
        </p:txBody>
      </p:sp>
      <p:sp>
        <p:nvSpPr>
          <p:cNvPr id="12" name="Text 9"/>
          <p:cNvSpPr txBox="1"/>
          <p:nvPr/>
        </p:nvSpPr>
        <p:spPr>
          <a:xfrm>
            <a:off x="6511900" y="3474720"/>
            <a:ext cx="1930070" cy="1737360"/>
          </a:xfrm>
          <a:prstGeom prst="rect">
            <a:avLst/>
          </a:prstGeom>
          <a:noFill/>
          <a:ln/>
        </p:spPr>
        <p:txBody>
          <a:bodyPr wrap="square" lIns="0" tIns="0" rIns="0" bIns="0" rtlCol="0" anchor="t"/>
          <a:lstStyle/>
          <a:p>
            <a:pPr indent="0" marL="0">
              <a:buNone/>
            </a:pPr>
            <a:r>
              <a:rPr lang="en-US" sz="2000" dirty="0">
                <a:solidFill>
                  <a:srgbClr val="111111"/>
                </a:solidFill>
                <a:latin typeface="Calibri" pitchFamily="34" charset="0"/>
                <a:ea typeface="Calibri" pitchFamily="34" charset="-122"/>
                <a:cs typeface="Calibri" pitchFamily="34" charset="-120"/>
              </a:rPr>
              <a:t>Indicador del tiempo bajo el agua.</a:t>
            </a:r>
            <a:endParaRPr lang="en-US" sz="2000" dirty="0"/>
          </a:p>
        </p:txBody>
      </p:sp>
      <p:sp>
        <p:nvSpPr>
          <p:cNvPr id="13" name="Shape 10"/>
          <p:cNvSpPr/>
          <p:nvPr/>
        </p:nvSpPr>
        <p:spPr>
          <a:xfrm>
            <a:off x="9018041" y="2651760"/>
            <a:ext cx="2442134" cy="3246120"/>
          </a:xfrm>
          <a:prstGeom prst="roundRect">
            <a:avLst>
              <a:gd name="adj" fmla="val 10484"/>
            </a:avLst>
          </a:prstGeom>
          <a:solidFill>
            <a:srgbClr val="14213D"/>
          </a:solidFill>
          <a:ln/>
        </p:spPr>
      </p:sp>
      <p:sp>
        <p:nvSpPr>
          <p:cNvPr id="14" name="Text 11"/>
          <p:cNvSpPr txBox="1"/>
          <p:nvPr/>
        </p:nvSpPr>
        <p:spPr>
          <a:xfrm>
            <a:off x="9274073" y="2971800"/>
            <a:ext cx="1930070" cy="86868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Sabe cómo le fue</a:t>
            </a:r>
            <a:endParaRPr lang="en-US" sz="2400" dirty="0"/>
          </a:p>
        </p:txBody>
      </p:sp>
      <p:sp>
        <p:nvSpPr>
          <p:cNvPr id="15" name="Text 12"/>
          <p:cNvSpPr txBox="1"/>
          <p:nvPr/>
        </p:nvSpPr>
        <p:spPr>
          <a:xfrm>
            <a:off x="9274073" y="3886200"/>
            <a:ext cx="1930070" cy="173736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Resumen final de aciertos y errores.</a:t>
            </a:r>
            <a:endParaRPr lang="en-US" sz="2000" dirty="0"/>
          </a:p>
        </p:txBody>
      </p:sp>
      <p:sp>
        <p:nvSpPr>
          <p:cNvPr id="25" name="Slide Number Placeholder 0"/>
          <p:cNvSpPr>
            <a:spLocks noGrp="1"/>
          </p:cNvSpPr>
          <p:nvPr>
            <p:ph type="sldNum" sz="quarter" idx="4294967295"/>
          </p:nvPr>
        </p:nvSpPr>
        <p:spPr>
          <a:xfrm>
            <a:off x="1091153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868680"/>
            <a:ext cx="10728655" cy="114300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Las manos actúan; la voz guía, no ordena</a:t>
            </a:r>
            <a:endParaRPr lang="en-US" sz="3600" dirty="0"/>
          </a:p>
        </p:txBody>
      </p:sp>
      <p:sp>
        <p:nvSpPr>
          <p:cNvPr id="3" name="Shape 1"/>
          <p:cNvSpPr/>
          <p:nvPr/>
        </p:nvSpPr>
        <p:spPr>
          <a:xfrm>
            <a:off x="731520" y="2148840"/>
            <a:ext cx="5181448" cy="3246120"/>
          </a:xfrm>
          <a:prstGeom prst="roundRect">
            <a:avLst>
              <a:gd name="adj" fmla="val 7887"/>
            </a:avLst>
          </a:prstGeom>
          <a:solidFill>
            <a:srgbClr val="333E56"/>
          </a:solidFill>
          <a:ln/>
        </p:spPr>
      </p:sp>
      <p:sp>
        <p:nvSpPr>
          <p:cNvPr id="4" name="Text 2"/>
          <p:cNvSpPr txBox="1"/>
          <p:nvPr/>
        </p:nvSpPr>
        <p:spPr>
          <a:xfrm>
            <a:off x="1097280" y="2423160"/>
            <a:ext cx="4449928"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Manos (input principal)</a:t>
            </a:r>
            <a:endParaRPr lang="en-US" sz="2400" dirty="0"/>
          </a:p>
        </p:txBody>
      </p:sp>
      <p:sp>
        <p:nvSpPr>
          <p:cNvPr id="5" name="Text 3"/>
          <p:cNvSpPr txBox="1"/>
          <p:nvPr/>
        </p:nvSpPr>
        <p:spPr>
          <a:xfrm>
            <a:off x="1097280" y="3063240"/>
            <a:ext cx="4449928" cy="2103120"/>
          </a:xfrm>
          <a:prstGeom prst="rect">
            <a:avLst/>
          </a:prstGeom>
          <a:noFill/>
          <a:ln/>
        </p:spPr>
        <p:txBody>
          <a:bodyPr wrap="square" lIns="0" tIns="0" rIns="0" bIns="0" rtlCol="0" anchor="t"/>
          <a:lstStyle/>
          <a:p>
            <a:pPr marL="254000" indent="-254000">
              <a:spcAft>
                <a:spcPts val="1200"/>
              </a:spcAft>
              <a:buSzPct val="100000"/>
              <a:buChar char="•"/>
            </a:pPr>
            <a:r>
              <a:rPr lang="en-US" sz="2200" dirty="0">
                <a:solidFill>
                  <a:srgbClr val="FFFFFF"/>
                </a:solidFill>
                <a:latin typeface="Calibri" pitchFamily="34" charset="0"/>
                <a:ea typeface="Calibri" pitchFamily="34" charset="-122"/>
                <a:cs typeface="Calibri" pitchFamily="34" charset="-120"/>
              </a:rPr>
              <a:t>Agarran la olla y el paño</a:t>
            </a:r>
            <a:endParaRPr lang="en-US" sz="2200" dirty="0"/>
          </a:p>
          <a:p>
            <a:pPr marL="254000" indent="-254000">
              <a:spcAft>
                <a:spcPts val="1200"/>
              </a:spcAft>
              <a:buSzPct val="100000"/>
              <a:buChar char="•"/>
            </a:pPr>
            <a:r>
              <a:rPr lang="en-US" sz="2200" dirty="0">
                <a:solidFill>
                  <a:srgbClr val="FFFFFF"/>
                </a:solidFill>
                <a:latin typeface="Calibri" pitchFamily="34" charset="0"/>
                <a:ea typeface="Calibri" pitchFamily="34" charset="-122"/>
                <a:cs typeface="Calibri" pitchFamily="34" charset="-120"/>
              </a:rPr>
              <a:t>Mano bajo el agua</a:t>
            </a:r>
            <a:endParaRPr lang="en-US" sz="2200" dirty="0"/>
          </a:p>
          <a:p>
            <a:pPr marL="254000" indent="-254000">
              <a:spcAft>
                <a:spcPts val="1200"/>
              </a:spcAft>
              <a:buSzPct val="100000"/>
              <a:buChar char="•"/>
            </a:pPr>
            <a:r>
              <a:rPr lang="en-US" sz="2200" dirty="0">
                <a:solidFill>
                  <a:srgbClr val="FFFFFF"/>
                </a:solidFill>
                <a:latin typeface="Calibri" pitchFamily="34" charset="0"/>
                <a:ea typeface="Calibri" pitchFamily="34" charset="-122"/>
                <a:cs typeface="Calibri" pitchFamily="34" charset="-120"/>
              </a:rPr>
              <a:t>Acciones cortas</a:t>
            </a:r>
            <a:endParaRPr lang="en-US" sz="2200" dirty="0"/>
          </a:p>
        </p:txBody>
      </p:sp>
      <p:sp>
        <p:nvSpPr>
          <p:cNvPr id="6" name="Shape 4"/>
          <p:cNvSpPr/>
          <p:nvPr/>
        </p:nvSpPr>
        <p:spPr>
          <a:xfrm>
            <a:off x="6278728" y="2148840"/>
            <a:ext cx="5181448" cy="3246120"/>
          </a:xfrm>
          <a:prstGeom prst="roundRect">
            <a:avLst>
              <a:gd name="adj" fmla="val 7887"/>
            </a:avLst>
          </a:prstGeom>
          <a:solidFill>
            <a:srgbClr val="27324C"/>
          </a:solidFill>
          <a:ln/>
        </p:spPr>
      </p:sp>
      <p:sp>
        <p:nvSpPr>
          <p:cNvPr id="7" name="Text 5"/>
          <p:cNvSpPr txBox="1"/>
          <p:nvPr/>
        </p:nvSpPr>
        <p:spPr>
          <a:xfrm>
            <a:off x="6644488" y="2423160"/>
            <a:ext cx="4449928"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Voz (solo salida)</a:t>
            </a:r>
            <a:endParaRPr lang="en-US" sz="2400" dirty="0"/>
          </a:p>
        </p:txBody>
      </p:sp>
      <p:sp>
        <p:nvSpPr>
          <p:cNvPr id="8" name="Text 6"/>
          <p:cNvSpPr txBox="1"/>
          <p:nvPr/>
        </p:nvSpPr>
        <p:spPr>
          <a:xfrm>
            <a:off x="6644488" y="3063240"/>
            <a:ext cx="4449928" cy="2103120"/>
          </a:xfrm>
          <a:prstGeom prst="rect">
            <a:avLst/>
          </a:prstGeom>
          <a:noFill/>
          <a:ln/>
        </p:spPr>
        <p:txBody>
          <a:bodyPr wrap="square" lIns="0" tIns="0" rIns="0" bIns="0" rtlCol="0" anchor="t"/>
          <a:lstStyle/>
          <a:p>
            <a:pPr marL="254000" indent="-254000">
              <a:spcAft>
                <a:spcPts val="1200"/>
              </a:spcAft>
              <a:buSzPct val="100000"/>
              <a:buChar char="•"/>
            </a:pPr>
            <a:r>
              <a:rPr lang="en-US" sz="2200" dirty="0">
                <a:solidFill>
                  <a:srgbClr val="FFFFFF"/>
                </a:solidFill>
                <a:latin typeface="Calibri" pitchFamily="34" charset="0"/>
                <a:ea typeface="Calibri" pitchFamily="34" charset="-122"/>
                <a:cs typeface="Calibri" pitchFamily="34" charset="-120"/>
              </a:rPr>
              <a:t>Instrucciones breves</a:t>
            </a:r>
            <a:endParaRPr lang="en-US" sz="2200" dirty="0"/>
          </a:p>
          <a:p>
            <a:pPr marL="254000" indent="-254000">
              <a:spcAft>
                <a:spcPts val="1200"/>
              </a:spcAft>
              <a:buSzPct val="100000"/>
              <a:buChar char="•"/>
            </a:pPr>
            <a:r>
              <a:rPr lang="en-US" sz="2200" dirty="0">
                <a:solidFill>
                  <a:srgbClr val="FFFFFF"/>
                </a:solidFill>
                <a:latin typeface="Calibri" pitchFamily="34" charset="0"/>
                <a:ea typeface="Calibri" pitchFamily="34" charset="-122"/>
                <a:cs typeface="Calibri" pitchFamily="34" charset="-120"/>
              </a:rPr>
              <a:t>Con subtítulos</a:t>
            </a:r>
            <a:endParaRPr lang="en-US" sz="2200" dirty="0"/>
          </a:p>
          <a:p>
            <a:pPr marL="254000" indent="-254000">
              <a:spcAft>
                <a:spcPts val="1200"/>
              </a:spcAft>
              <a:buSzPct val="100000"/>
              <a:buChar char="•"/>
            </a:pPr>
            <a:r>
              <a:rPr lang="en-US" sz="2200" dirty="0">
                <a:solidFill>
                  <a:srgbClr val="FFFFFF"/>
                </a:solidFill>
                <a:latin typeface="Calibri" pitchFamily="34" charset="0"/>
                <a:ea typeface="Calibri" pitchFamily="34" charset="-122"/>
                <a:cs typeface="Calibri" pitchFamily="34" charset="-120"/>
              </a:rPr>
              <a:t>Nunca es un comando</a:t>
            </a:r>
            <a:endParaRPr lang="en-US" sz="2200" dirty="0"/>
          </a:p>
        </p:txBody>
      </p:sp>
      <p:sp>
        <p:nvSpPr>
          <p:cNvPr id="9" name="Text 7"/>
          <p:cNvSpPr txBox="1"/>
          <p:nvPr/>
        </p:nvSpPr>
        <p:spPr>
          <a:xfrm>
            <a:off x="731520" y="5577840"/>
            <a:ext cx="10728655" cy="6858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La mirada guía la atención; el movimiento es corto, dentro de la cocina.</a:t>
            </a:r>
            <a:endParaRPr lang="en-US" sz="2400" dirty="0"/>
          </a:p>
        </p:txBody>
      </p:sp>
      <p:sp>
        <p:nvSpPr>
          <p:cNvPr id="25" name="Slide Number Placeholder 0"/>
          <p:cNvSpPr>
            <a:spLocks noGrp="1"/>
          </p:cNvSpPr>
          <p:nvPr>
            <p:ph type="sldNum" sz="quarter" idx="4294967295"/>
          </p:nvPr>
        </p:nvSpPr>
        <p:spPr>
          <a:xfrm>
            <a:off x="1091153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CBCED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731520" y="868680"/>
            <a:ext cx="10728655" cy="1143000"/>
          </a:xfrm>
          <a:prstGeom prst="rect">
            <a:avLst/>
          </a:prstGeom>
          <a:noFill/>
          <a:ln/>
        </p:spPr>
        <p:txBody>
          <a:bodyPr wrap="square" lIns="0" tIns="0" rIns="0" bIns="0" rtlCol="0" anchor="t"/>
          <a:lstStyle/>
          <a:p>
            <a:pPr algn="l" indent="0" marL="0">
              <a:buNone/>
            </a:pPr>
            <a:r>
              <a:rPr lang="en-US" sz="3600" b="1" dirty="0">
                <a:solidFill>
                  <a:srgbClr val="1B2430"/>
                </a:solidFill>
                <a:latin typeface="Cambria" pitchFamily="34" charset="0"/>
                <a:ea typeface="Cambria" pitchFamily="34" charset="-122"/>
                <a:cs typeface="Cambria" pitchFamily="34" charset="-120"/>
              </a:rPr>
              <a:t>Cada acción responde al instante, y equivocarse no cuesta caro</a:t>
            </a:r>
            <a:endParaRPr lang="en-US" sz="3600" dirty="0"/>
          </a:p>
        </p:txBody>
      </p:sp>
      <p:sp>
        <p:nvSpPr>
          <p:cNvPr id="4" name="Text 1"/>
          <p:cNvSpPr txBox="1"/>
          <p:nvPr/>
        </p:nvSpPr>
        <p:spPr>
          <a:xfrm>
            <a:off x="731520" y="2240280"/>
            <a:ext cx="10728655" cy="3840480"/>
          </a:xfrm>
          <a:prstGeom prst="rect">
            <a:avLst/>
          </a:prstGeom>
          <a:noFill/>
          <a:ln/>
        </p:spPr>
        <p:txBody>
          <a:bodyPr wrap="square" lIns="0" tIns="0" rIns="0" bIns="0" rtlCol="0" anchor="t"/>
          <a:lstStyle/>
          <a:p>
            <a:pPr marL="254000" indent="-254000">
              <a:spcAft>
                <a:spcPts val="1400"/>
              </a:spcAft>
              <a:buSzPct val="100000"/>
              <a:buChar char="•"/>
            </a:pPr>
            <a:r>
              <a:rPr lang="en-US" sz="2400" dirty="0">
                <a:solidFill>
                  <a:srgbClr val="1B2430"/>
                </a:solidFill>
                <a:latin typeface="Calibri" pitchFamily="34" charset="0"/>
                <a:ea typeface="Calibri" pitchFamily="34" charset="-122"/>
                <a:cs typeface="Calibri" pitchFamily="34" charset="-120"/>
              </a:rPr>
              <a:t>Los objetos usables se distinguen; una mano fantasma muestra cómo agarrarlos.</a:t>
            </a:r>
            <a:endParaRPr lang="en-US" sz="2400" dirty="0"/>
          </a:p>
          <a:p>
            <a:pPr marL="254000" indent="-254000">
              <a:spcAft>
                <a:spcPts val="1400"/>
              </a:spcAft>
              <a:buSzPct val="100000"/>
              <a:buChar char="•"/>
            </a:pPr>
            <a:r>
              <a:rPr lang="en-US" sz="2400" dirty="0">
                <a:solidFill>
                  <a:srgbClr val="1B2430"/>
                </a:solidFill>
                <a:latin typeface="Calibri" pitchFamily="34" charset="0"/>
                <a:ea typeface="Calibri" pitchFamily="34" charset="-122"/>
                <a:cs typeface="Calibri" pitchFamily="34" charset="-120"/>
              </a:rPr>
              <a:t>Cada acción responde al instante: tiempo, sonido y resumen final.</a:t>
            </a:r>
            <a:endParaRPr lang="en-US" sz="2400" dirty="0"/>
          </a:p>
          <a:p>
            <a:pPr marL="254000" indent="-254000">
              <a:spcAft>
                <a:spcPts val="1400"/>
              </a:spcAft>
              <a:buSzPct val="100000"/>
              <a:buChar char="•"/>
            </a:pPr>
            <a:r>
              <a:rPr lang="en-US" sz="2400" dirty="0">
                <a:solidFill>
                  <a:srgbClr val="1B2430"/>
                </a:solidFill>
                <a:latin typeface="Calibri" pitchFamily="34" charset="0"/>
                <a:ea typeface="Calibri" pitchFamily="34" charset="-122"/>
                <a:cs typeface="Calibri" pitchFamily="34" charset="-120"/>
              </a:rPr>
              <a:t>Si se equivoca, puede repetir el paso sin problema.</a:t>
            </a:r>
            <a:endParaRPr lang="en-US" sz="2400" dirty="0"/>
          </a:p>
          <a:p>
            <a:pPr marL="254000" indent="-254000">
              <a:spcAft>
                <a:spcPts val="1400"/>
              </a:spcAft>
              <a:buSzPct val="100000"/>
              <a:buChar char="•"/>
            </a:pPr>
            <a:r>
              <a:rPr lang="en-US" sz="2400" dirty="0">
                <a:solidFill>
                  <a:srgbClr val="1B2430"/>
                </a:solidFill>
                <a:latin typeface="Calibri" pitchFamily="34" charset="0"/>
                <a:ea typeface="Calibri" pitchFamily="34" charset="-122"/>
                <a:cs typeface="Calibri" pitchFamily="34" charset="-120"/>
              </a:rPr>
              <a:t>El tutorial es corto y solo muestra lo necesario.</a:t>
            </a:r>
            <a:endParaRPr lang="en-US" sz="2400" dirty="0"/>
          </a:p>
        </p:txBody>
      </p:sp>
      <p:sp>
        <p:nvSpPr>
          <p:cNvPr id="25" name="Slide Number Placeholder 0"/>
          <p:cNvSpPr>
            <a:spLocks noGrp="1"/>
          </p:cNvSpPr>
          <p:nvPr>
            <p:ph type="sldNum" sz="quarter" idx="4294967295"/>
          </p:nvPr>
        </p:nvSpPr>
        <p:spPr>
          <a:xfrm>
            <a:off x="1091153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863840" y="-1463040"/>
            <a:ext cx="6583680" cy="6583680"/>
          </a:xfrm>
          <a:prstGeom prst="ellipse">
            <a:avLst/>
          </a:prstGeom>
          <a:solidFill>
            <a:srgbClr val="1C2E55"/>
          </a:solidFill>
          <a:ln/>
        </p:spPr>
      </p:sp>
      <p:sp>
        <p:nvSpPr>
          <p:cNvPr id="3" name="Text 1"/>
          <p:cNvSpPr txBox="1"/>
          <p:nvPr/>
        </p:nvSpPr>
        <p:spPr>
          <a:xfrm>
            <a:off x="731520" y="3291840"/>
            <a:ext cx="9875520" cy="2377440"/>
          </a:xfrm>
          <a:prstGeom prst="rect">
            <a:avLst/>
          </a:prstGeom>
          <a:noFill/>
          <a:ln/>
        </p:spPr>
        <p:txBody>
          <a:bodyPr wrap="square" lIns="0" tIns="0" rIns="0" bIns="0" rtlCol="0" anchor="b"/>
          <a:lstStyle/>
          <a:p>
            <a:pPr indent="0" marL="0">
              <a:buNone/>
            </a:pPr>
            <a:r>
              <a:rPr lang="en-US" sz="6600" b="1" dirty="0">
                <a:solidFill>
                  <a:srgbClr val="FFFFFF"/>
                </a:solidFill>
                <a:latin typeface="Cambria" pitchFamily="34" charset="0"/>
                <a:ea typeface="Cambria" pitchFamily="34" charset="-122"/>
                <a:cs typeface="Cambria" pitchFamily="34" charset="-120"/>
              </a:rPr>
              <a:t>Esto ya se puede probar en el visor</a:t>
            </a:r>
            <a:endParaRPr lang="en-US" sz="6600" dirty="0"/>
          </a:p>
        </p:txBody>
      </p:sp>
      <p:sp>
        <p:nvSpPr>
          <p:cNvPr id="4" name="Text 2"/>
          <p:cNvSpPr txBox="1"/>
          <p:nvPr/>
        </p:nvSpPr>
        <p:spPr>
          <a:xfrm>
            <a:off x="731520" y="5760720"/>
            <a:ext cx="8686800" cy="640080"/>
          </a:xfrm>
          <a:prstGeom prst="rect">
            <a:avLst/>
          </a:prstGeom>
          <a:noFill/>
          <a:ln/>
        </p:spPr>
        <p:txBody>
          <a:bodyPr wrap="square" lIns="0" tIns="0" rIns="0" bIns="0" rtlCol="0" anchor="t"/>
          <a:lstStyle/>
          <a:p>
            <a:pPr indent="0" marL="0">
              <a:buNone/>
            </a:pPr>
            <a:r>
              <a:rPr lang="en-US" sz="2200" dirty="0">
                <a:solidFill>
                  <a:srgbClr val="FFFFFF"/>
                </a:solidFill>
                <a:latin typeface="Calibri" pitchFamily="34" charset="0"/>
                <a:ea typeface="Calibri" pitchFamily="34" charset="-122"/>
                <a:cs typeface="Calibri" pitchFamily="34" charset="-120"/>
              </a:rPr>
              <a:t>La escena de la cocina, con el agarre y el movimiento, funciona en Meta Quest.</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foto_redondeada" descr="Hombre con un visor de realidad virtual">    </p:cNvPr>
          <p:cNvPicPr>
            <a:picLocks noChangeAspect="1"/>
          </p:cNvPicPr>
          <p:nvPr/>
        </p:nvPicPr>
        <p:blipFill>
          <a:blip r:embed="rId1"/>
          <a:srcRect l="14717" r="14717" t="0" b="0"/>
          <a:stretch/>
        </p:blipFill>
        <p:spPr>
          <a:xfrm>
            <a:off x="731520" y="731520"/>
            <a:ext cx="3931920" cy="5394960"/>
          </a:xfrm>
          <a:prstGeom prst="roundRect">
            <a:avLst>
              <a:gd name="adj" fmla="val 9000"/>
            </a:avLst>
          </a:prstGeom>
        </p:spPr>
      </p:pic>
      <p:sp>
        <p:nvSpPr>
          <p:cNvPr id="4" name="Text 0"/>
          <p:cNvSpPr/>
          <p:nvPr>
            <p:ph idx="100" type="title" hasCustomPrompt="1"/>
          </p:nvPr>
        </p:nvSpPr>
        <p:spPr>
          <a:xfrm>
            <a:off x="5029200" y="868680"/>
            <a:ext cx="6428232" cy="1371600"/>
          </a:xfrm>
          <a:prstGeom prst="rect">
            <a:avLst/>
          </a:prstGeom>
          <a:noFill/>
          <a:ln/>
        </p:spPr>
        <p:txBody>
          <a:bodyPr wrap="square" lIns="0" tIns="0" rIns="0" bIns="0" rtlCol="0" anchor="t"/>
          <a:lstStyle/>
          <a:p>
            <a:pPr algn="l" indent="0" marL="0">
              <a:buNone/>
            </a:pPr>
            <a:r>
              <a:rPr lang="en-US" sz="3200" b="1" dirty="0">
                <a:solidFill>
                  <a:srgbClr val="1B2430"/>
                </a:solidFill>
                <a:latin typeface="Cambria" pitchFamily="34" charset="0"/>
                <a:ea typeface="Cambria" pitchFamily="34" charset="-122"/>
                <a:cs typeface="Cambria" pitchFamily="34" charset="-120"/>
              </a:rPr>
              <a:t>El jugador ya camina por la cocina y agarra la olla con el control</a:t>
            </a:r>
            <a:endParaRPr lang="en-US" sz="3200" dirty="0"/>
          </a:p>
        </p:txBody>
      </p:sp>
      <p:sp>
        <p:nvSpPr>
          <p:cNvPr id="5" name="Text 1"/>
          <p:cNvSpPr txBox="1"/>
          <p:nvPr/>
        </p:nvSpPr>
        <p:spPr>
          <a:xfrm>
            <a:off x="5029200" y="2423160"/>
            <a:ext cx="6428232" cy="3749040"/>
          </a:xfrm>
          <a:prstGeom prst="rect">
            <a:avLst/>
          </a:prstGeom>
          <a:noFill/>
          <a:ln/>
        </p:spPr>
        <p:txBody>
          <a:bodyPr wrap="square" lIns="0" tIns="0" rIns="0" bIns="0" rtlCol="0" anchor="t"/>
          <a:lstStyle/>
          <a:p>
            <a:pPr marL="254000" indent="-254000">
              <a:spcAft>
                <a:spcPts val="1400"/>
              </a:spcAft>
              <a:buSzPct val="100000"/>
              <a:buChar char="•"/>
            </a:pPr>
            <a:r>
              <a:rPr lang="en-US" sz="2400" dirty="0">
                <a:solidFill>
                  <a:srgbClr val="1B2430"/>
                </a:solidFill>
                <a:latin typeface="Calibri" pitchFamily="34" charset="0"/>
                <a:ea typeface="Calibri" pitchFamily="34" charset="-122"/>
                <a:cs typeface="Calibri" pitchFamily="34" charset="-120"/>
              </a:rPr>
              <a:t>Choca contra paredes y muebles en vez de atravesarlos.</a:t>
            </a:r>
            <a:endParaRPr lang="en-US" sz="2400" dirty="0"/>
          </a:p>
          <a:p>
            <a:pPr marL="254000" indent="-254000">
              <a:spcAft>
                <a:spcPts val="1400"/>
              </a:spcAft>
              <a:buSzPct val="100000"/>
              <a:buChar char="•"/>
            </a:pPr>
            <a:r>
              <a:rPr lang="en-US" sz="2400" dirty="0">
                <a:solidFill>
                  <a:srgbClr val="1B2430"/>
                </a:solidFill>
                <a:latin typeface="Calibri" pitchFamily="34" charset="0"/>
                <a:ea typeface="Calibri" pitchFamily="34" charset="-122"/>
                <a:cs typeface="Calibri" pitchFamily="34" charset="-120"/>
              </a:rPr>
              <a:t>Acerca la mano, aprieta el gatillo y sostiene el objeto.</a:t>
            </a:r>
            <a:endParaRPr lang="en-US" sz="2400" dirty="0"/>
          </a:p>
          <a:p>
            <a:pPr marL="254000" indent="-254000">
              <a:spcAft>
                <a:spcPts val="1400"/>
              </a:spcAft>
              <a:buSzPct val="100000"/>
              <a:buChar char="•"/>
            </a:pPr>
            <a:r>
              <a:rPr lang="en-US" sz="2400" dirty="0">
                <a:solidFill>
                  <a:srgbClr val="1B2430"/>
                </a:solidFill>
                <a:latin typeface="Calibri" pitchFamily="34" charset="0"/>
                <a:ea typeface="Calibri" pitchFamily="34" charset="-122"/>
                <a:cs typeface="Calibri" pitchFamily="34" charset="-120"/>
              </a:rPr>
              <a:t>Falta el agua, el indicador de tiempo, el sonido y el resumen final.</a:t>
            </a:r>
            <a:endParaRPr lang="en-US" sz="2400" dirty="0"/>
          </a:p>
        </p:txBody>
      </p:sp>
      <p:sp>
        <p:nvSpPr>
          <p:cNvPr id="25" name="Slide Number Placeholder 0"/>
          <p:cNvSpPr>
            <a:spLocks noGrp="1"/>
          </p:cNvSpPr>
          <p:nvPr>
            <p:ph type="sldNum" sz="quarter" idx="4294967295"/>
          </p:nvPr>
        </p:nvSpPr>
        <p:spPr>
          <a:xfrm>
            <a:off x="1091153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868680"/>
            <a:ext cx="10728655" cy="1143000"/>
          </a:xfrm>
          <a:prstGeom prst="rect">
            <a:avLst/>
          </a:prstGeom>
          <a:noFill/>
          <a:ln/>
        </p:spPr>
        <p:txBody>
          <a:bodyPr wrap="square" lIns="0" tIns="0" rIns="0" bIns="0" rtlCol="0" anchor="t"/>
          <a:lstStyle/>
          <a:p>
            <a:pPr algn="l" indent="0" marL="0">
              <a:buNone/>
            </a:pPr>
            <a:r>
              <a:rPr lang="en-US" sz="3600" b="1" dirty="0">
                <a:solidFill>
                  <a:srgbClr val="111111"/>
                </a:solidFill>
                <a:latin typeface="Cambria" pitchFamily="34" charset="0"/>
                <a:ea typeface="Cambria" pitchFamily="34" charset="-122"/>
                <a:cs typeface="Cambria" pitchFamily="34" charset="-120"/>
              </a:rPr>
              <a:t>El proyecto se enfoca solo en la quemadura, por ahora</a:t>
            </a:r>
            <a:endParaRPr lang="en-US" sz="3600" dirty="0"/>
          </a:p>
        </p:txBody>
      </p:sp>
      <p:sp>
        <p:nvSpPr>
          <p:cNvPr id="3" name="Shape 1"/>
          <p:cNvSpPr/>
          <p:nvPr/>
        </p:nvSpPr>
        <p:spPr>
          <a:xfrm>
            <a:off x="731520" y="2148840"/>
            <a:ext cx="5181448" cy="3246120"/>
          </a:xfrm>
          <a:prstGeom prst="roundRect">
            <a:avLst>
              <a:gd name="adj" fmla="val 7887"/>
            </a:avLst>
          </a:prstGeom>
          <a:solidFill>
            <a:srgbClr val="E48B3C"/>
          </a:solidFill>
          <a:ln/>
        </p:spPr>
      </p:sp>
      <p:sp>
        <p:nvSpPr>
          <p:cNvPr id="4" name="Text 2"/>
          <p:cNvSpPr txBox="1"/>
          <p:nvPr/>
        </p:nvSpPr>
        <p:spPr>
          <a:xfrm>
            <a:off x="1097280" y="2423160"/>
            <a:ext cx="4449928" cy="457200"/>
          </a:xfrm>
          <a:prstGeom prst="rect">
            <a:avLst/>
          </a:prstGeom>
          <a:noFill/>
          <a:ln/>
        </p:spPr>
        <p:txBody>
          <a:bodyPr wrap="square" lIns="0" tIns="0" rIns="0" bIns="0" rtlCol="0" anchor="ctr"/>
          <a:lstStyle/>
          <a:p>
            <a:pPr indent="0" marL="0">
              <a:buNone/>
            </a:pPr>
            <a:r>
              <a:rPr lang="en-US" sz="2400" b="1" dirty="0">
                <a:solidFill>
                  <a:srgbClr val="111111"/>
                </a:solidFill>
                <a:latin typeface="Cambria" pitchFamily="34" charset="0"/>
                <a:ea typeface="Cambria" pitchFamily="34" charset="-122"/>
                <a:cs typeface="Cambria" pitchFamily="34" charset="-120"/>
              </a:rPr>
              <a:t>Sí incluye</a:t>
            </a:r>
            <a:endParaRPr lang="en-US" sz="2400" dirty="0"/>
          </a:p>
        </p:txBody>
      </p:sp>
      <p:sp>
        <p:nvSpPr>
          <p:cNvPr id="5" name="Text 3"/>
          <p:cNvSpPr txBox="1"/>
          <p:nvPr/>
        </p:nvSpPr>
        <p:spPr>
          <a:xfrm>
            <a:off x="1097280" y="3063240"/>
            <a:ext cx="4449928" cy="2103120"/>
          </a:xfrm>
          <a:prstGeom prst="rect">
            <a:avLst/>
          </a:prstGeom>
          <a:noFill/>
          <a:ln/>
        </p:spPr>
        <p:txBody>
          <a:bodyPr wrap="square" lIns="0" tIns="0" rIns="0" bIns="0" rtlCol="0" anchor="t"/>
          <a:lstStyle/>
          <a:p>
            <a:pPr marL="254000" indent="-254000">
              <a:spcAft>
                <a:spcPts val="1200"/>
              </a:spcAft>
              <a:buSzPct val="100000"/>
              <a:buChar char="•"/>
            </a:pPr>
            <a:r>
              <a:rPr lang="en-US" sz="2200" dirty="0">
                <a:solidFill>
                  <a:srgbClr val="111111"/>
                </a:solidFill>
                <a:latin typeface="Calibri" pitchFamily="34" charset="0"/>
                <a:ea typeface="Calibri" pitchFamily="34" charset="-122"/>
                <a:cs typeface="Calibri" pitchFamily="34" charset="-120"/>
              </a:rPr>
              <a:t>La quemadura, en una cocina</a:t>
            </a:r>
            <a:endParaRPr lang="en-US" sz="2200" dirty="0"/>
          </a:p>
          <a:p>
            <a:pPr marL="254000" indent="-254000">
              <a:spcAft>
                <a:spcPts val="1200"/>
              </a:spcAft>
              <a:buSzPct val="100000"/>
              <a:buChar char="•"/>
            </a:pPr>
            <a:r>
              <a:rPr lang="en-US" sz="2200" dirty="0">
                <a:solidFill>
                  <a:srgbClr val="111111"/>
                </a:solidFill>
                <a:latin typeface="Calibri" pitchFamily="34" charset="0"/>
                <a:ea typeface="Calibri" pitchFamily="34" charset="-122"/>
                <a:cs typeface="Calibri" pitchFamily="34" charset="-120"/>
              </a:rPr>
              <a:t>Orden correcto de los pasos</a:t>
            </a:r>
            <a:endParaRPr lang="en-US" sz="2200" dirty="0"/>
          </a:p>
          <a:p>
            <a:pPr marL="254000" indent="-254000">
              <a:spcAft>
                <a:spcPts val="1200"/>
              </a:spcAft>
              <a:buSzPct val="100000"/>
              <a:buChar char="•"/>
            </a:pPr>
            <a:r>
              <a:rPr lang="en-US" sz="2200" dirty="0">
                <a:solidFill>
                  <a:srgbClr val="111111"/>
                </a:solidFill>
                <a:latin typeface="Calibri" pitchFamily="34" charset="0"/>
                <a:ea typeface="Calibri" pitchFamily="34" charset="-122"/>
                <a:cs typeface="Calibri" pitchFamily="34" charset="-120"/>
              </a:rPr>
              <a:t>Práctica repetible y segura</a:t>
            </a:r>
            <a:endParaRPr lang="en-US" sz="2200" dirty="0"/>
          </a:p>
        </p:txBody>
      </p:sp>
      <p:sp>
        <p:nvSpPr>
          <p:cNvPr id="6" name="Shape 4"/>
          <p:cNvSpPr/>
          <p:nvPr/>
        </p:nvSpPr>
        <p:spPr>
          <a:xfrm>
            <a:off x="6278728" y="2148840"/>
            <a:ext cx="5181448" cy="3246120"/>
          </a:xfrm>
          <a:prstGeom prst="roundRect">
            <a:avLst>
              <a:gd name="adj" fmla="val 7887"/>
            </a:avLst>
          </a:prstGeom>
          <a:solidFill>
            <a:srgbClr val="E28430"/>
          </a:solidFill>
          <a:ln/>
        </p:spPr>
      </p:sp>
      <p:sp>
        <p:nvSpPr>
          <p:cNvPr id="7" name="Text 5"/>
          <p:cNvSpPr txBox="1"/>
          <p:nvPr/>
        </p:nvSpPr>
        <p:spPr>
          <a:xfrm>
            <a:off x="6644488" y="2423160"/>
            <a:ext cx="4449928" cy="457200"/>
          </a:xfrm>
          <a:prstGeom prst="rect">
            <a:avLst/>
          </a:prstGeom>
          <a:noFill/>
          <a:ln/>
        </p:spPr>
        <p:txBody>
          <a:bodyPr wrap="square" lIns="0" tIns="0" rIns="0" bIns="0" rtlCol="0" anchor="ctr"/>
          <a:lstStyle/>
          <a:p>
            <a:pPr indent="0" marL="0">
              <a:buNone/>
            </a:pPr>
            <a:r>
              <a:rPr lang="en-US" sz="2400" b="1" dirty="0">
                <a:solidFill>
                  <a:srgbClr val="111111"/>
                </a:solidFill>
                <a:latin typeface="Cambria" pitchFamily="34" charset="0"/>
                <a:ea typeface="Cambria" pitchFamily="34" charset="-122"/>
                <a:cs typeface="Cambria" pitchFamily="34" charset="-120"/>
              </a:rPr>
              <a:t>No incluye (todavía)</a:t>
            </a:r>
            <a:endParaRPr lang="en-US" sz="2400" dirty="0"/>
          </a:p>
        </p:txBody>
      </p:sp>
      <p:sp>
        <p:nvSpPr>
          <p:cNvPr id="8" name="Text 6"/>
          <p:cNvSpPr txBox="1"/>
          <p:nvPr/>
        </p:nvSpPr>
        <p:spPr>
          <a:xfrm>
            <a:off x="6644488" y="3063240"/>
            <a:ext cx="4449928" cy="2103120"/>
          </a:xfrm>
          <a:prstGeom prst="rect">
            <a:avLst/>
          </a:prstGeom>
          <a:noFill/>
          <a:ln/>
        </p:spPr>
        <p:txBody>
          <a:bodyPr wrap="square" lIns="0" tIns="0" rIns="0" bIns="0" rtlCol="0" anchor="t"/>
          <a:lstStyle/>
          <a:p>
            <a:pPr marL="254000" indent="-254000">
              <a:spcAft>
                <a:spcPts val="1200"/>
              </a:spcAft>
              <a:buSzPct val="100000"/>
              <a:buChar char="•"/>
            </a:pPr>
            <a:r>
              <a:rPr lang="en-US" sz="2200" dirty="0">
                <a:solidFill>
                  <a:srgbClr val="111111"/>
                </a:solidFill>
                <a:latin typeface="Calibri" pitchFamily="34" charset="0"/>
                <a:ea typeface="Calibri" pitchFamily="34" charset="-122"/>
                <a:cs typeface="Calibri" pitchFamily="34" charset="-120"/>
              </a:rPr>
              <a:t>Atragantamiento, RCP, DEA</a:t>
            </a:r>
            <a:endParaRPr lang="en-US" sz="2200" dirty="0"/>
          </a:p>
          <a:p>
            <a:pPr marL="254000" indent="-254000">
              <a:spcAft>
                <a:spcPts val="1200"/>
              </a:spcAft>
              <a:buSzPct val="100000"/>
              <a:buChar char="•"/>
            </a:pPr>
            <a:r>
              <a:rPr lang="en-US" sz="2200" dirty="0">
                <a:solidFill>
                  <a:srgbClr val="111111"/>
                </a:solidFill>
                <a:latin typeface="Calibri" pitchFamily="34" charset="0"/>
                <a:ea typeface="Calibri" pitchFamily="34" charset="-122"/>
                <a:cs typeface="Calibri" pitchFamily="34" charset="-120"/>
              </a:rPr>
              <a:t>Fuerza o temperatura real</a:t>
            </a:r>
            <a:endParaRPr lang="en-US" sz="2200" dirty="0"/>
          </a:p>
          <a:p>
            <a:pPr marL="254000" indent="-254000">
              <a:spcAft>
                <a:spcPts val="1200"/>
              </a:spcAft>
              <a:buSzPct val="100000"/>
              <a:buChar char="•"/>
            </a:pPr>
            <a:r>
              <a:rPr lang="en-US" sz="2200" dirty="0">
                <a:solidFill>
                  <a:srgbClr val="111111"/>
                </a:solidFill>
                <a:latin typeface="Calibri" pitchFamily="34" charset="0"/>
                <a:ea typeface="Calibri" pitchFamily="34" charset="-122"/>
                <a:cs typeface="Calibri" pitchFamily="34" charset="-120"/>
              </a:rPr>
              <a:t>Un curso certificado</a:t>
            </a:r>
            <a:endParaRPr lang="en-US" sz="2200" dirty="0"/>
          </a:p>
        </p:txBody>
      </p:sp>
      <p:sp>
        <p:nvSpPr>
          <p:cNvPr id="9" name="Text 7"/>
          <p:cNvSpPr txBox="1"/>
          <p:nvPr/>
        </p:nvSpPr>
        <p:spPr>
          <a:xfrm>
            <a:off x="731520" y="5577840"/>
            <a:ext cx="10728655" cy="685800"/>
          </a:xfrm>
          <a:prstGeom prst="rect">
            <a:avLst/>
          </a:prstGeom>
          <a:noFill/>
          <a:ln/>
        </p:spPr>
        <p:txBody>
          <a:bodyPr wrap="square" lIns="0" tIns="0" rIns="0" bIns="0" rtlCol="0" anchor="ctr"/>
          <a:lstStyle/>
          <a:p>
            <a:pPr indent="0" marL="0">
              <a:buNone/>
            </a:pPr>
            <a:r>
              <a:rPr lang="en-US" sz="2400" b="1" dirty="0">
                <a:solidFill>
                  <a:srgbClr val="111111"/>
                </a:solidFill>
                <a:latin typeface="Cambria" pitchFamily="34" charset="0"/>
                <a:ea typeface="Cambria" pitchFamily="34" charset="-122"/>
                <a:cs typeface="Cambria" pitchFamily="34" charset="-120"/>
              </a:rPr>
              <a:t>Quedan como ampliación futura, según indicó el profesor.</a:t>
            </a:r>
            <a:endParaRPr lang="en-US" sz="2400" dirty="0"/>
          </a:p>
        </p:txBody>
      </p:sp>
      <p:sp>
        <p:nvSpPr>
          <p:cNvPr id="25" name="Slide Number Placeholder 0"/>
          <p:cNvSpPr>
            <a:spLocks noGrp="1"/>
          </p:cNvSpPr>
          <p:nvPr>
            <p:ph type="sldNum" sz="quarter" idx="4294967295"/>
          </p:nvPr>
        </p:nvSpPr>
        <p:spPr>
          <a:xfrm>
            <a:off x="1091153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3F2814"/>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868680"/>
            <a:ext cx="10728655" cy="1143000"/>
          </a:xfrm>
          <a:prstGeom prst="rect">
            <a:avLst/>
          </a:prstGeom>
          <a:noFill/>
          <a:ln/>
        </p:spPr>
        <p:txBody>
          <a:bodyPr wrap="square" lIns="0" tIns="0" rIns="0" bIns="0" rtlCol="0" anchor="t"/>
          <a:lstStyle/>
          <a:p>
            <a:pPr algn="l" indent="0" marL="0">
              <a:buNone/>
            </a:pPr>
            <a:r>
              <a:rPr lang="en-US" sz="3600" b="1" dirty="0">
                <a:solidFill>
                  <a:srgbClr val="1B2430"/>
                </a:solidFill>
                <a:latin typeface="Cambria" pitchFamily="34" charset="0"/>
                <a:ea typeface="Cambria" pitchFamily="34" charset="-122"/>
                <a:cs typeface="Cambria" pitchFamily="34" charset="-120"/>
              </a:rPr>
              <a:t>Estamos en el primer entregable, con la cocina armada</a:t>
            </a:r>
            <a:endParaRPr lang="en-US" sz="3600" dirty="0"/>
          </a:p>
        </p:txBody>
      </p:sp>
      <p:graphicFrame>
        <p:nvGraphicFramePr>
          <p:cNvPr id="3" name="Chart 0" descr=""/>
          <p:cNvGraphicFramePr/>
          <p:nvPr/>
        </p:nvGraphicFramePr>
        <p:xfrm>
          <a:off x="731520" y="2103120"/>
          <a:ext cx="7040880" cy="40233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8229600" y="2194560"/>
            <a:ext cx="3230575" cy="3840480"/>
          </a:xfrm>
          <a:prstGeom prst="roundRect">
            <a:avLst>
              <a:gd name="adj" fmla="val 7925"/>
            </a:avLst>
          </a:prstGeom>
          <a:solidFill>
            <a:srgbClr val="14213D"/>
          </a:solidFill>
          <a:ln/>
        </p:spPr>
      </p:sp>
      <p:sp>
        <p:nvSpPr>
          <p:cNvPr id="5" name="Text 2"/>
          <p:cNvSpPr txBox="1"/>
          <p:nvPr/>
        </p:nvSpPr>
        <p:spPr>
          <a:xfrm>
            <a:off x="8549640" y="2514600"/>
            <a:ext cx="2590495" cy="320040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El primer entregable es la escena de la cocina, el personaje y el tutorial de agarre; los siguientes suman el agua, el tiempo, el sonido y el resumen final.</a:t>
            </a:r>
            <a:endParaRPr lang="en-US" sz="1800" dirty="0"/>
          </a:p>
        </p:txBody>
      </p:sp>
      <p:sp>
        <p:nvSpPr>
          <p:cNvPr id="6" name="Text 3"/>
          <p:cNvSpPr txBox="1"/>
          <p:nvPr/>
        </p:nvSpPr>
        <p:spPr>
          <a:xfrm>
            <a:off x="731520" y="6355080"/>
            <a:ext cx="9265615" cy="274320"/>
          </a:xfrm>
          <a:prstGeom prst="rect">
            <a:avLst/>
          </a:prstGeom>
          <a:noFill/>
          <a:ln/>
        </p:spPr>
        <p:txBody>
          <a:bodyPr wrap="square" lIns="0" tIns="0" rIns="0" bIns="0" rtlCol="0" anchor="ctr"/>
          <a:lstStyle/>
          <a:p>
            <a:pPr indent="0" marL="0">
              <a:buNone/>
            </a:pPr>
            <a:r>
              <a:rPr lang="en-US" sz="1200" dirty="0">
                <a:solidFill>
                  <a:srgbClr val="5A6675"/>
                </a:solidFill>
                <a:latin typeface="Calibri" pitchFamily="34" charset="0"/>
                <a:ea typeface="Calibri" pitchFamily="34" charset="-122"/>
                <a:cs typeface="Calibri" pitchFamily="34" charset="-120"/>
              </a:rPr>
              <a:t>Fuente: cronograma del proyecto (semanas 10 a 15)</a:t>
            </a:r>
            <a:endParaRPr lang="en-US" sz="1200" dirty="0"/>
          </a:p>
        </p:txBody>
      </p:sp>
      <p:sp>
        <p:nvSpPr>
          <p:cNvPr id="25" name="Slide Number Placeholder 0"/>
          <p:cNvSpPr>
            <a:spLocks noGrp="1"/>
          </p:cNvSpPr>
          <p:nvPr>
            <p:ph type="sldNum" sz="quarter" idx="4294967295"/>
          </p:nvPr>
        </p:nvSpPr>
        <p:spPr>
          <a:xfrm>
            <a:off x="1091153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680960" y="3657600"/>
            <a:ext cx="5669280" cy="4206240"/>
          </a:xfrm>
          <a:prstGeom prst="roundRect">
            <a:avLst>
              <a:gd name="adj" fmla="val 15217"/>
            </a:avLst>
          </a:prstGeom>
          <a:solidFill>
            <a:srgbClr val="333E56"/>
          </a:solidFill>
          <a:ln/>
        </p:spPr>
      </p:sp>
      <p:sp>
        <p:nvSpPr>
          <p:cNvPr id="3" name="Text 1"/>
          <p:cNvSpPr txBox="1"/>
          <p:nvPr/>
        </p:nvSpPr>
        <p:spPr>
          <a:xfrm>
            <a:off x="731520" y="868680"/>
            <a:ext cx="4023360" cy="420624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Antes del próximo entregable, cerramos lo que quedó pendiente</a:t>
            </a:r>
            <a:endParaRPr lang="en-US" sz="4600" dirty="0"/>
          </a:p>
        </p:txBody>
      </p:sp>
      <p:sp>
        <p:nvSpPr>
          <p:cNvPr id="4" name="Text 2"/>
          <p:cNvSpPr txBox="1"/>
          <p:nvPr/>
        </p:nvSpPr>
        <p:spPr>
          <a:xfrm>
            <a:off x="5394960" y="1051560"/>
            <a:ext cx="6065215"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Definir la persona final con una encuesta propia.</a:t>
            </a:r>
            <a:endParaRPr lang="en-US" sz="2400" dirty="0"/>
          </a:p>
        </p:txBody>
      </p:sp>
      <p:sp>
        <p:nvSpPr>
          <p:cNvPr id="5" name="Text 3"/>
          <p:cNvSpPr txBox="1"/>
          <p:nvPr/>
        </p:nvSpPr>
        <p:spPr>
          <a:xfrm>
            <a:off x="5394960" y="2286000"/>
            <a:ext cx="6065215"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Citar una guía oficial, como Cruz Roja u OMS, para los pasos.</a:t>
            </a:r>
            <a:endParaRPr lang="en-US" sz="2400" dirty="0"/>
          </a:p>
        </p:txBody>
      </p:sp>
      <p:sp>
        <p:nvSpPr>
          <p:cNvPr id="6" name="Text 4"/>
          <p:cNvSpPr txBox="1"/>
          <p:nvPr/>
        </p:nvSpPr>
        <p:spPr>
          <a:xfrm>
            <a:off x="5394960" y="3520440"/>
            <a:ext cx="6065215"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Ponerle nombre definitivo al proyecto.</a:t>
            </a:r>
            <a:endParaRPr lang="en-US" sz="2400" dirty="0"/>
          </a:p>
        </p:txBody>
      </p:sp>
      <p:sp>
        <p:nvSpPr>
          <p:cNvPr id="7" name="Text 5"/>
          <p:cNvSpPr txBox="1"/>
          <p:nvPr/>
        </p:nvSpPr>
        <p:spPr>
          <a:xfrm>
            <a:off x="731520" y="6035040"/>
            <a:ext cx="8229600" cy="365760"/>
          </a:xfrm>
          <a:prstGeom prst="rect">
            <a:avLst/>
          </a:prstGeom>
          <a:noFill/>
          <a:ln/>
        </p:spPr>
        <p:txBody>
          <a:bodyPr wrap="square" lIns="0" tIns="0" rIns="0" bIns="0" rtlCol="0" anchor="ctr"/>
          <a:lstStyle/>
          <a:p>
            <a:pPr indent="0" marL="0">
              <a:buNone/>
            </a:pPr>
            <a:r>
              <a:rPr lang="en-US" sz="1600" dirty="0">
                <a:solidFill>
                  <a:srgbClr val="CBCED4"/>
                </a:solidFill>
                <a:latin typeface="Calibri" pitchFamily="34" charset="0"/>
                <a:ea typeface="Calibri" pitchFamily="34" charset="-122"/>
                <a:cs typeface="Calibri" pitchFamily="34" charset="-120"/>
              </a:rPr>
              <a:t>Sebastian Sanchez, Aracely Ayala y Jose Osnayo</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868680"/>
            <a:ext cx="10728655" cy="914400"/>
          </a:xfrm>
          <a:prstGeom prst="rect">
            <a:avLst/>
          </a:prstGeom>
          <a:noFill/>
          <a:ln/>
        </p:spPr>
        <p:txBody>
          <a:bodyPr wrap="square" lIns="0" tIns="0" rIns="0" bIns="0" rtlCol="0" anchor="t"/>
          <a:lstStyle/>
          <a:p>
            <a:pPr algn="l" indent="0" marL="0">
              <a:buNone/>
            </a:pPr>
            <a:r>
              <a:rPr lang="en-US" sz="3200" b="1" dirty="0">
                <a:solidFill>
                  <a:srgbClr val="1B2430"/>
                </a:solidFill>
                <a:latin typeface="Cambria" pitchFamily="34" charset="0"/>
                <a:ea typeface="Cambria" pitchFamily="34" charset="-122"/>
                <a:cs typeface="Cambria" pitchFamily="34" charset="-120"/>
              </a:rPr>
              <a:t>Referencias</a:t>
            </a:r>
            <a:endParaRPr lang="en-US" sz="3200" dirty="0"/>
          </a:p>
        </p:txBody>
      </p:sp>
      <p:sp>
        <p:nvSpPr>
          <p:cNvPr id="3" name="Text 1"/>
          <p:cNvSpPr txBox="1"/>
          <p:nvPr/>
        </p:nvSpPr>
        <p:spPr>
          <a:xfrm>
            <a:off x="731520" y="2103120"/>
            <a:ext cx="10728655" cy="4114800"/>
          </a:xfrm>
          <a:prstGeom prst="rect">
            <a:avLst/>
          </a:prstGeom>
          <a:noFill/>
          <a:ln/>
        </p:spPr>
        <p:txBody>
          <a:bodyPr wrap="square" lIns="0" tIns="0" rIns="0" bIns="0" rtlCol="0" anchor="t"/>
          <a:lstStyle/>
          <a:p>
            <a:pPr indent="0" marL="0">
              <a:spcAft>
                <a:spcPts val="800"/>
              </a:spcAft>
              <a:buNone/>
            </a:pPr>
            <a:r>
              <a:rPr lang="en-US" sz="1400" dirty="0">
                <a:solidFill>
                  <a:srgbClr val="1B2430"/>
                </a:solidFill>
                <a:latin typeface="Calibri" pitchFamily="34" charset="0"/>
                <a:ea typeface="Calibri" pitchFamily="34" charset="-122"/>
                <a:cs typeface="Calibri" pitchFamily="34" charset="-120"/>
              </a:rPr>
              <a:t>Alcázar Artero, P. M., Pardo Ríos, M., Greif, R., Ocampo Cervantes, A. B., Gijón-Nogueron, G., Barcala-Furelos, R., Aranda-García, S., &amp; Ramos Petersen, L. (2023). Efficiency of virtual reality for cardiopulmonary resuscitation training of adult laypersons: a systematic review. Medicine, 102(4), e32736.</a:t>
            </a:r>
            <a:endParaRPr lang="en-US" sz="1400" dirty="0"/>
          </a:p>
          <a:p>
            <a:pPr indent="0" marL="0">
              <a:spcAft>
                <a:spcPts val="800"/>
              </a:spcAft>
              <a:buNone/>
            </a:pPr>
            <a:r>
              <a:rPr lang="en-US" sz="1400" dirty="0">
                <a:solidFill>
                  <a:srgbClr val="1B2430"/>
                </a:solidFill>
                <a:latin typeface="Calibri" pitchFamily="34" charset="0"/>
                <a:ea typeface="Calibri" pitchFamily="34" charset="-122"/>
                <a:cs typeface="Calibri" pitchFamily="34" charset="-120"/>
              </a:rPr>
              <a:t>Bowman, D. A., Kruijff, E., LaViola, J. J., &amp; Poupyrev, I. (2005). 3D User Interfaces: Theory and Practice. Addison-Wesley.</a:t>
            </a:r>
            <a:endParaRPr lang="en-US" sz="1400" dirty="0"/>
          </a:p>
          <a:p>
            <a:pPr indent="0" marL="0">
              <a:spcAft>
                <a:spcPts val="800"/>
              </a:spcAft>
              <a:buNone/>
            </a:pPr>
            <a:r>
              <a:rPr lang="en-US" sz="1400" dirty="0">
                <a:solidFill>
                  <a:srgbClr val="1B2430"/>
                </a:solidFill>
                <a:latin typeface="Calibri" pitchFamily="34" charset="0"/>
                <a:ea typeface="Calibri" pitchFamily="34" charset="-122"/>
                <a:cs typeface="Calibri" pitchFamily="34" charset="-120"/>
              </a:rPr>
              <a:t>Norman, D. A. (2013). The Design of Everyday Things: Revised and Expanded Edition. Basic Books.</a:t>
            </a:r>
            <a:endParaRPr lang="en-US" sz="1400" dirty="0"/>
          </a:p>
          <a:p>
            <a:pPr indent="0" marL="0">
              <a:spcAft>
                <a:spcPts val="800"/>
              </a:spcAft>
              <a:buNone/>
            </a:pPr>
            <a:r>
              <a:rPr lang="en-US" sz="1400" dirty="0">
                <a:solidFill>
                  <a:srgbClr val="1B2430"/>
                </a:solidFill>
                <a:latin typeface="Calibri" pitchFamily="34" charset="0"/>
                <a:ea typeface="Calibri" pitchFamily="34" charset="-122"/>
                <a:cs typeface="Calibri" pitchFamily="34" charset="-120"/>
              </a:rPr>
              <a:t>Rodden, K., Hutchinson, H., &amp; Fu, X. (2010). Measuring the user experience on a large scale: User-centered metrics for web applications. Proceedings of the SIGCHI Conference on Human Factors in Computing Systems (CHI '10).</a:t>
            </a:r>
            <a:endParaRPr lang="en-US" sz="1400" dirty="0"/>
          </a:p>
          <a:p>
            <a:pPr indent="0" marL="0">
              <a:spcAft>
                <a:spcPts val="800"/>
              </a:spcAft>
              <a:buNone/>
            </a:pPr>
            <a:r>
              <a:rPr lang="en-US" sz="1400" dirty="0">
                <a:solidFill>
                  <a:srgbClr val="1B2430"/>
                </a:solidFill>
                <a:latin typeface="Calibri" pitchFamily="34" charset="0"/>
                <a:ea typeface="Calibri" pitchFamily="34" charset="-122"/>
                <a:cs typeface="Calibri" pitchFamily="34" charset="-120"/>
              </a:rPr>
              <a:t>Sun, R., Wang, Y., Wu, Q., Wang, S., Liu, X., Wang, P., He, Y., &amp; Zheng, H. (2024). Effectiveness of virtual and augmented reality for cardiopulmonary resuscitation training: a systematic review and meta-analysis. BMC Medical Education, 24(1).</a:t>
            </a:r>
            <a:endParaRPr lang="en-US" sz="1400" dirty="0"/>
          </a:p>
          <a:p>
            <a:pPr indent="0" marL="0">
              <a:spcAft>
                <a:spcPts val="800"/>
              </a:spcAft>
              <a:buNone/>
            </a:pPr>
            <a:r>
              <a:rPr lang="en-US" sz="1400" dirty="0">
                <a:solidFill>
                  <a:srgbClr val="1B2430"/>
                </a:solidFill>
                <a:latin typeface="Calibri" pitchFamily="34" charset="0"/>
                <a:ea typeface="Calibri" pitchFamily="34" charset="-122"/>
                <a:cs typeface="Calibri" pitchFamily="34" charset="-120"/>
              </a:rPr>
              <a:t>Witmer, B. G., &amp; Singer, M. J. (1998). Measuring presence in virtual environments: A presence questionnaire. Presence: Teleoperators and Virtual Environments, 7(3), 225–240.</a:t>
            </a:r>
            <a:endParaRPr lang="en-US" sz="1400" dirty="0"/>
          </a:p>
        </p:txBody>
      </p:sp>
      <p:sp>
        <p:nvSpPr>
          <p:cNvPr id="25" name="Slide Number Placeholder 0"/>
          <p:cNvSpPr>
            <a:spLocks noGrp="1"/>
          </p:cNvSpPr>
          <p:nvPr>
            <p:ph type="sldNum" sz="quarter" idx="4294967295"/>
          </p:nvPr>
        </p:nvSpPr>
        <p:spPr>
          <a:xfrm>
            <a:off x="1091153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Primeros auxilios ante una quemadura — Hito 1</dc:title>
  <dc:subject>PptxGenJS Presentation</dc:subject>
  <dc:creator>Sebastian Sanchez, Aracely Ayala, Jose Osnayo</dc:creator>
  <cp:lastModifiedBy>Sebastian Sanchez, Aracely Ayala, Jose Osnayo</cp:lastModifiedBy>
  <cp:revision>1</cp:revision>
  <dcterms:created xsi:type="dcterms:W3CDTF">2026-09-22T01:41:37Z</dcterms:created>
  <dcterms:modified xsi:type="dcterms:W3CDTF">2026-09-22T01:41:37Z</dcterms:modified>
</cp:coreProperties>
</file>